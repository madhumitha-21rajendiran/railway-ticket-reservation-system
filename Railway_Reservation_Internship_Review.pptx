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52324db-eee2-d76c-73b8-595871b8d274}">
          <p14:sldIdLst>
            <p14:sldId id="256"/>
            <p14:sldId id="257"/>
            <p14:sldId id="258"/>
            <p14:sldId id="259"/>
          </p14:sldIdLst>
        </p14:section>
        <p14:section name="Project" id="{6e654f28-fb5c-ba72-1f88-a85963a83fae}">
          <p14:sldIdLst>
            <p14:sldId id="260"/>
          </p14:sldIdLst>
        </p14:section>
        <p14:section name="Design" id="{6f920a85-7070-90a6-1bc4-f1a1c61d702d}">
          <p14:sldIdLst>
            <p14:sldId id="261"/>
            <p14:sldId id="262"/>
            <p14:sldId id="263"/>
          </p14:sldIdLst>
        </p14:section>
        <p14:section name="Build" id="{cea4e0c9-2138-4dc2-6c8e-5c3f0010f398}">
          <p14:sldIdLst>
            <p14:sldId id="264"/>
            <p14:sldId id="265"/>
          </p14:sldIdLst>
        </p14:section>
        <p14:section name="Outcome" id="{c1db415d-a2ed-2ae4-f95d-6cf9e82e456b}">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R. Madhumitha, register number 810023205064, B.Tech Information Technology, seventh semester. My internship project is a Web-Based Railway Ticket Reservation System, done at Fantasy Solution, Trichy as part of the course IT3711. In simple words: a website where a passenger can search a train, pick a seat, pay, and get a digital ticket with a PNR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internship was 30 days at Fantasy Solution, a software company in Melapudur, Trichy. The first part was learning web development step by step. Then I applied it to build the Railway Ticket Reservation System. The course code is IT3711, seventh semester.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objectives from my report. The first four are about the system: an easy website, online search and booking, secure login with a digital ticket, and a database with an admin module. The last one is my own learning goal: practical experience in front-end, back-end, database and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building the project I spent the 30 days learning web development in four stages. Days 1 to 7: HTML, CSS and responsive design. Days 8 to 16: images, navigation, UX and UI, accessibility, Bootstrap and optimisation. Days 17 to 24: JavaScript, DOM, user-centred design and usability. Days 25 to 30: e-commerce design, SEO, analytics, security, CMS and database connectivity. This base helped me build the booking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existing way of booking has problems: complex navigation, longer processing time, limited accessibility, and counter booking where people stand in queues. Managing booking and PNR information is also difficult. My solution puts everything on one website: register, search, select seats, pay, get a ticket with PNR, and cancel. An admin module manages trains, schedules and bookings, and a central database keeps data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three layers. The passenger uses the browser. The web interface is built with HTML, CSS and JavaScript. The server uses Node.js and Express.js, which receives requests such as login, search, book, payment and cancel, applies the logic, and talks to the MySQL database. The database stores users, trains, bookings and payments. The result, like a PNR and digital ticket, comes back to the passenger. Example: when the passenger searches, the search form sends a POST request, the server runs a SELECT query on the trains table and sends the matching trains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technologies in the project. HTML for page structure and forms. CSS for styling and responsive layout. JavaScript for interactivity and logic. Node.js is the server runtime and Express.js handles routes. MySQL stores the data, accessed through the mysql2 package. On the right are things I also learned during the internship, such as Bootstrap, Google Analytics, HTTPS and XSS prevention, and JDBC.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a booking flows. One: the user logs in and the credentials are checked. Two: search by source, destination and date. Three: available seats are shown; if none, the search is modified. Four: passenger details are validated and the fare is calculated. Five: payment is processed, and if it fails the user can retry. Six: a unique PNR is generated, the booking is stored and the e-ticket is shown. Below are the other modules: cancellation and PNR status, the admin module, and the database with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part of my code. The search route receives source, destination and date from the form, runs a SELECT query on the trains table, and returns the matching trains as JSON. The question marks are placeholders, so user input is never joined into the SQL text. This protects against SQL injection. Booking, payment and cancellation routes follow the same pattern. A booking is saved with status Confirmed and cancellation changes it to Cancelled. The PNR is the letters PNR plus a six-digit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output screens from my report. Top row: the train search page, the search results with filters, and seat selection with a coach layout and fare. Bottom row: passenger details, the payment success page with PNR, and the digital e-ticket. The report also has the registration, login, payment method and booking history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my report, the main functions were tested: login, train search, seat selection, booking, payment, ticket generation and cancellation. The results are qualitative: less manual effort, fewer booking errors, faster reservation. I did not record numerical benchmarks, so I do not claim any numbers. On the right are limitations I noticed when reviewing my own code, and how I would fix them. Passwords are compared as plain text, so I would hash them with bcrypt. Payment is simulated, so a real gateway is needed. The PNR uses a random number, so a uniqueness check is needed. And booking should use a database transaction to stop two people taking the same seat.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built a web-based railway reservation system that brings search, seat selection, booking, payment, cancellation, PNR and digital ticket into one platform, with an admin module and a central database. The internship gave me practical experience across the full web stack. In future I would add real-time train data, a real payment gateway, email and SMS alerts, OTP login, a mobile app and cloud deployment.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chemeClr val="accent6"/>
                </a:solidFill>
              </a:rPr>
              <a:t>Railway Ticket Reservation System  |  Internship Review</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900" dirty="0">
                <a:solidFill>
                  <a:schemeClr val="accent5"/>
                </a:solidFill>
              </a:rPr>
              <a:t>Railway Ticket Reservation System  |  Internship Review</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502920"/>
            <a:ext cx="5486400" cy="274320"/>
          </a:xfrm>
          <a:prstGeom prst="rect">
            <a:avLst/>
          </a:prstGeom>
          <a:noFill/>
          <a:ln/>
        </p:spPr>
        <p:txBody>
          <a:bodyPr wrap="square" lIns="0" tIns="0" rIns="0" bIns="0" rtlCol="0" anchor="ctr"/>
          <a:lstStyle/>
          <a:p>
            <a:pPr indent="0" marL="0">
              <a:buNone/>
            </a:pPr>
            <a:r>
              <a:rPr lang="en-US" sz="1100" b="1" spc="300" kern="0" dirty="0">
                <a:solidFill>
                  <a:schemeClr val="accent6"/>
                </a:solidFill>
              </a:rPr>
              <a:t>SUMMER INTERNSHIP REVIEW  |  IT3711</a:t>
            </a:r>
            <a:endParaRPr lang="en-US" sz="1100" dirty="0"/>
          </a:p>
        </p:txBody>
      </p:sp>
      <p:sp>
        <p:nvSpPr>
          <p:cNvPr id="3" name="Title"/>
          <p:cNvSpPr txBox="1"/>
          <p:nvPr/>
        </p:nvSpPr>
        <p:spPr>
          <a:xfrm>
            <a:off x="457200" y="1051560"/>
            <a:ext cx="5486400" cy="1600200"/>
          </a:xfrm>
          <a:prstGeom prst="rect">
            <a:avLst/>
          </a:prstGeom>
          <a:noFill/>
          <a:ln/>
        </p:spPr>
        <p:txBody>
          <a:bodyPr wrap="square" lIns="0" tIns="0" rIns="0" bIns="0"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Design and Development of a Web-Based Railway Ticket Reservation System</a:t>
            </a:r>
            <a:endParaRPr lang="en-US" sz="2800" dirty="0"/>
          </a:p>
        </p:txBody>
      </p:sp>
      <p:sp>
        <p:nvSpPr>
          <p:cNvPr id="4" name="Text 2"/>
          <p:cNvSpPr txBox="1"/>
          <p:nvPr/>
        </p:nvSpPr>
        <p:spPr>
          <a:xfrm>
            <a:off x="457200" y="2697480"/>
            <a:ext cx="5486400" cy="320040"/>
          </a:xfrm>
          <a:prstGeom prst="rect">
            <a:avLst/>
          </a:prstGeom>
          <a:noFill/>
          <a:ln/>
        </p:spPr>
        <p:txBody>
          <a:bodyPr wrap="square" lIns="0" tIns="0" rIns="0" bIns="0" rtlCol="0" anchor="ctr"/>
          <a:lstStyle/>
          <a:p>
            <a:pPr indent="0" marL="0">
              <a:buNone/>
            </a:pPr>
            <a:r>
              <a:rPr lang="en-US" sz="1500" dirty="0">
                <a:solidFill>
                  <a:schemeClr val="accent6"/>
                </a:solidFill>
              </a:rPr>
              <a:t>A full-stack web application for online train booking</a:t>
            </a:r>
            <a:endParaRPr lang="en-US" sz="1500" dirty="0"/>
          </a:p>
        </p:txBody>
      </p:sp>
      <p:sp>
        <p:nvSpPr>
          <p:cNvPr id="5" name="Text 3"/>
          <p:cNvSpPr txBox="1"/>
          <p:nvPr/>
        </p:nvSpPr>
        <p:spPr>
          <a:xfrm>
            <a:off x="457200" y="3291840"/>
            <a:ext cx="5760720" cy="1234440"/>
          </a:xfrm>
          <a:prstGeom prst="rect">
            <a:avLst/>
          </a:prstGeom>
          <a:noFill/>
          <a:ln/>
        </p:spPr>
        <p:txBody>
          <a:bodyPr wrap="square" lIns="0" tIns="0" rIns="0" bIns="0" rtlCol="0" anchor="t"/>
          <a:lstStyle/>
          <a:p>
            <a:pPr indent="0" marL="0">
              <a:buNone/>
            </a:pPr>
            <a:r>
              <a:rPr lang="en-US" sz="1200" b="1" dirty="0">
                <a:solidFill>
                  <a:schemeClr val="bg1"/>
                </a:solidFill>
              </a:rPr>
              <a:t>R. MADHUMITHA (810023205064)</a:t>
            </a:r>
            <a:endParaRPr lang="en-US" sz="1200" dirty="0"/>
          </a:p>
          <a:p>
            <a:pPr indent="0" marL="0">
              <a:buNone/>
            </a:pPr>
            <a:r>
              <a:rPr lang="en-US" sz="1200" dirty="0">
                <a:solidFill>
                  <a:schemeClr val="bg1"/>
                </a:solidFill>
              </a:rPr>
              <a:t>B.Tech. Information Technology, Semester VII</a:t>
            </a:r>
            <a:endParaRPr lang="en-US" sz="1200" dirty="0"/>
          </a:p>
          <a:p>
            <a:pPr indent="0" marL="0">
              <a:buNone/>
            </a:pPr>
            <a:r>
              <a:rPr lang="en-US" sz="1200" dirty="0">
                <a:solidFill>
                  <a:schemeClr val="bg1"/>
                </a:solidFill>
              </a:rPr>
              <a:t>University College of Engineering (BIT Campus), Anna University, Tiruchirappalli</a:t>
            </a:r>
            <a:endParaRPr lang="en-US" sz="1200" dirty="0"/>
          </a:p>
          <a:p>
            <a:pPr indent="0" marL="0">
              <a:buNone/>
            </a:pPr>
            <a:r>
              <a:rPr lang="en-US" sz="1200" dirty="0">
                <a:solidFill>
                  <a:schemeClr val="bg1"/>
                </a:solidFill>
              </a:rPr>
              <a:t>Internship at Fantasy Solution, Trichy  |  30 days</a:t>
            </a:r>
            <a:endParaRPr lang="en-US" sz="1200" dirty="0"/>
          </a:p>
        </p:txBody>
      </p:sp>
      <p:sp>
        <p:nvSpPr>
          <p:cNvPr id="6" name="Journey circle Search"/>
          <p:cNvSpPr/>
          <p:nvPr/>
        </p:nvSpPr>
        <p:spPr>
          <a:xfrm>
            <a:off x="6583680" y="777240"/>
            <a:ext cx="685800" cy="685800"/>
          </a:xfrm>
          <a:prstGeom prst="ellipse">
            <a:avLst/>
          </a:prstGeom>
          <a:solidFill>
            <a:schemeClr val="accent1"/>
          </a:solidFill>
          <a:ln w="12700">
            <a:solidFill>
              <a:schemeClr val="accent1"/>
            </a:solidFill>
            <a:prstDash val="solid"/>
          </a:ln>
        </p:spPr>
      </p:sp>
      <p:sp>
        <p:nvSpPr>
          <p:cNvPr id="7" name="Text 5"/>
          <p:cNvSpPr txBox="1"/>
          <p:nvPr/>
        </p:nvSpPr>
        <p:spPr>
          <a:xfrm>
            <a:off x="6583680" y="777240"/>
            <a:ext cx="685800" cy="68580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6"/>
          <p:cNvSpPr txBox="1"/>
          <p:nvPr/>
        </p:nvSpPr>
        <p:spPr>
          <a:xfrm>
            <a:off x="7452360" y="777240"/>
            <a:ext cx="1280160" cy="685800"/>
          </a:xfrm>
          <a:prstGeom prst="rect">
            <a:avLst/>
          </a:prstGeom>
          <a:noFill/>
          <a:ln/>
        </p:spPr>
        <p:txBody>
          <a:bodyPr wrap="square" lIns="0" tIns="0" rIns="0" bIns="0" rtlCol="0" anchor="ctr"/>
          <a:lstStyle/>
          <a:p>
            <a:pPr indent="0" marL="0">
              <a:buNone/>
            </a:pPr>
            <a:r>
              <a:rPr lang="en-US" sz="1500" b="1" dirty="0">
                <a:solidFill>
                  <a:schemeClr val="bg1"/>
                </a:solidFill>
              </a:rPr>
              <a:t>Search</a:t>
            </a:r>
            <a:endParaRPr lang="en-US" sz="1500" dirty="0"/>
          </a:p>
        </p:txBody>
      </p:sp>
      <p:sp>
        <p:nvSpPr>
          <p:cNvPr id="9" name="Journey circle Book"/>
          <p:cNvSpPr/>
          <p:nvPr/>
        </p:nvSpPr>
        <p:spPr>
          <a:xfrm>
            <a:off x="6583680" y="1691640"/>
            <a:ext cx="685800" cy="685800"/>
          </a:xfrm>
          <a:prstGeom prst="ellipse">
            <a:avLst/>
          </a:prstGeom>
          <a:solidFill>
            <a:schemeClr val="accent2"/>
          </a:solidFill>
          <a:ln w="12700">
            <a:solidFill>
              <a:schemeClr val="accent2"/>
            </a:solidFill>
            <a:prstDash val="solid"/>
          </a:ln>
        </p:spPr>
      </p:sp>
      <p:sp>
        <p:nvSpPr>
          <p:cNvPr id="10" name="Text 8"/>
          <p:cNvSpPr txBox="1"/>
          <p:nvPr/>
        </p:nvSpPr>
        <p:spPr>
          <a:xfrm>
            <a:off x="6583680" y="1691640"/>
            <a:ext cx="685800" cy="68580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9"/>
          <p:cNvSpPr txBox="1"/>
          <p:nvPr/>
        </p:nvSpPr>
        <p:spPr>
          <a:xfrm>
            <a:off x="7452360" y="1691640"/>
            <a:ext cx="1280160" cy="685800"/>
          </a:xfrm>
          <a:prstGeom prst="rect">
            <a:avLst/>
          </a:prstGeom>
          <a:noFill/>
          <a:ln/>
        </p:spPr>
        <p:txBody>
          <a:bodyPr wrap="square" lIns="0" tIns="0" rIns="0" bIns="0" rtlCol="0" anchor="ctr"/>
          <a:lstStyle/>
          <a:p>
            <a:pPr indent="0" marL="0">
              <a:buNone/>
            </a:pPr>
            <a:r>
              <a:rPr lang="en-US" sz="1500" b="1" dirty="0">
                <a:solidFill>
                  <a:schemeClr val="bg1"/>
                </a:solidFill>
              </a:rPr>
              <a:t>Book</a:t>
            </a:r>
            <a:endParaRPr lang="en-US" sz="1500" dirty="0"/>
          </a:p>
        </p:txBody>
      </p:sp>
      <p:sp>
        <p:nvSpPr>
          <p:cNvPr id="12" name="Journey circle Pay"/>
          <p:cNvSpPr/>
          <p:nvPr/>
        </p:nvSpPr>
        <p:spPr>
          <a:xfrm>
            <a:off x="6583680" y="2606040"/>
            <a:ext cx="685800" cy="685800"/>
          </a:xfrm>
          <a:prstGeom prst="ellipse">
            <a:avLst/>
          </a:prstGeom>
          <a:solidFill>
            <a:schemeClr val="accent3"/>
          </a:solidFill>
          <a:ln w="12700">
            <a:solidFill>
              <a:schemeClr val="accent3"/>
            </a:solidFill>
            <a:prstDash val="solid"/>
          </a:ln>
        </p:spPr>
      </p:sp>
      <p:sp>
        <p:nvSpPr>
          <p:cNvPr id="13" name="Text 11"/>
          <p:cNvSpPr txBox="1"/>
          <p:nvPr/>
        </p:nvSpPr>
        <p:spPr>
          <a:xfrm>
            <a:off x="6583680" y="2606040"/>
            <a:ext cx="685800" cy="68580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2"/>
          <p:cNvSpPr txBox="1"/>
          <p:nvPr/>
        </p:nvSpPr>
        <p:spPr>
          <a:xfrm>
            <a:off x="7452360" y="2606040"/>
            <a:ext cx="1280160" cy="685800"/>
          </a:xfrm>
          <a:prstGeom prst="rect">
            <a:avLst/>
          </a:prstGeom>
          <a:noFill/>
          <a:ln/>
        </p:spPr>
        <p:txBody>
          <a:bodyPr wrap="square" lIns="0" tIns="0" rIns="0" bIns="0" rtlCol="0" anchor="ctr"/>
          <a:lstStyle/>
          <a:p>
            <a:pPr indent="0" marL="0">
              <a:buNone/>
            </a:pPr>
            <a:r>
              <a:rPr lang="en-US" sz="1500" b="1" dirty="0">
                <a:solidFill>
                  <a:schemeClr val="bg1"/>
                </a:solidFill>
              </a:rPr>
              <a:t>Pay</a:t>
            </a:r>
            <a:endParaRPr lang="en-US" sz="1500" dirty="0"/>
          </a:p>
        </p:txBody>
      </p:sp>
      <p:sp>
        <p:nvSpPr>
          <p:cNvPr id="15" name="Journey circle Ticket"/>
          <p:cNvSpPr/>
          <p:nvPr/>
        </p:nvSpPr>
        <p:spPr>
          <a:xfrm>
            <a:off x="6583680" y="3520440"/>
            <a:ext cx="685800" cy="685800"/>
          </a:xfrm>
          <a:prstGeom prst="ellipse">
            <a:avLst/>
          </a:prstGeom>
          <a:solidFill>
            <a:schemeClr val="accent4"/>
          </a:solidFill>
          <a:ln w="12700">
            <a:solidFill>
              <a:schemeClr val="accent4"/>
            </a:solidFill>
            <a:prstDash val="solid"/>
          </a:ln>
        </p:spPr>
      </p:sp>
      <p:sp>
        <p:nvSpPr>
          <p:cNvPr id="16" name="Text 14"/>
          <p:cNvSpPr txBox="1"/>
          <p:nvPr/>
        </p:nvSpPr>
        <p:spPr>
          <a:xfrm>
            <a:off x="6583680" y="3520440"/>
            <a:ext cx="685800" cy="68580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7" name="Text 15"/>
          <p:cNvSpPr txBox="1"/>
          <p:nvPr/>
        </p:nvSpPr>
        <p:spPr>
          <a:xfrm>
            <a:off x="7452360" y="3520440"/>
            <a:ext cx="1280160" cy="685800"/>
          </a:xfrm>
          <a:prstGeom prst="rect">
            <a:avLst/>
          </a:prstGeom>
          <a:noFill/>
          <a:ln/>
        </p:spPr>
        <p:txBody>
          <a:bodyPr wrap="square" lIns="0" tIns="0" rIns="0" bIns="0" rtlCol="0" anchor="ctr"/>
          <a:lstStyle/>
          <a:p>
            <a:pPr indent="0" marL="0">
              <a:buNone/>
            </a:pPr>
            <a:r>
              <a:rPr lang="en-US" sz="1500" b="1" dirty="0">
                <a:solidFill>
                  <a:schemeClr val="bg1"/>
                </a:solidFill>
              </a:rPr>
              <a:t>Ticket</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28600"/>
            <a:ext cx="8229600" cy="59436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Internship at a Glance</a:t>
            </a:r>
            <a:endParaRPr lang="en-US" sz="2600" dirty="0"/>
          </a:p>
        </p:txBody>
      </p:sp>
      <p:sp>
        <p:nvSpPr>
          <p:cNvPr id="4" name="Info card DURATION"/>
          <p:cNvSpPr/>
          <p:nvPr/>
        </p:nvSpPr>
        <p:spPr>
          <a:xfrm>
            <a:off x="457200" y="1005840"/>
            <a:ext cx="4023360" cy="1188720"/>
          </a:xfrm>
          <a:prstGeom prst="roundRect">
            <a:avLst>
              <a:gd name="adj" fmla="val 6154"/>
            </a:avLst>
          </a:prstGeom>
          <a:solidFill>
            <a:schemeClr val="bg2"/>
          </a:solidFill>
          <a:ln w="12700">
            <a:solidFill>
              <a:schemeClr val="bg2"/>
            </a:solidFill>
            <a:prstDash val="solid"/>
          </a:ln>
        </p:spPr>
      </p:sp>
      <p:sp>
        <p:nvSpPr>
          <p:cNvPr id="5" name="Text 2"/>
          <p:cNvSpPr txBox="1"/>
          <p:nvPr/>
        </p:nvSpPr>
        <p:spPr>
          <a:xfrm>
            <a:off x="685800" y="1143000"/>
            <a:ext cx="356616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DURATION</a:t>
            </a:r>
            <a:endParaRPr lang="en-US" sz="1000" dirty="0"/>
          </a:p>
        </p:txBody>
      </p:sp>
      <p:sp>
        <p:nvSpPr>
          <p:cNvPr id="6" name="Text 3"/>
          <p:cNvSpPr txBox="1"/>
          <p:nvPr/>
        </p:nvSpPr>
        <p:spPr>
          <a:xfrm>
            <a:off x="685800" y="1389888"/>
            <a:ext cx="3566160" cy="4114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30 days</a:t>
            </a:r>
            <a:endParaRPr lang="en-US" sz="2200" dirty="0"/>
          </a:p>
        </p:txBody>
      </p:sp>
      <p:sp>
        <p:nvSpPr>
          <p:cNvPr id="7" name="Text 4"/>
          <p:cNvSpPr txBox="1"/>
          <p:nvPr/>
        </p:nvSpPr>
        <p:spPr>
          <a:xfrm>
            <a:off x="685800" y="1828800"/>
            <a:ext cx="3566160" cy="256032"/>
          </a:xfrm>
          <a:prstGeom prst="rect">
            <a:avLst/>
          </a:prstGeom>
          <a:noFill/>
          <a:ln/>
        </p:spPr>
        <p:txBody>
          <a:bodyPr wrap="square" lIns="0" tIns="0" rIns="0" bIns="0" rtlCol="0" anchor="ctr"/>
          <a:lstStyle/>
          <a:p>
            <a:pPr indent="0" marL="0">
              <a:buNone/>
            </a:pPr>
            <a:r>
              <a:rPr lang="en-US" sz="1200" dirty="0">
                <a:solidFill>
                  <a:schemeClr val="accent5"/>
                </a:solidFill>
              </a:rPr>
              <a:t>Daily work report: Day 1 to Day 30</a:t>
            </a:r>
            <a:endParaRPr lang="en-US" sz="1200" dirty="0"/>
          </a:p>
        </p:txBody>
      </p:sp>
      <p:sp>
        <p:nvSpPr>
          <p:cNvPr id="8" name="Info card ORGANISATION"/>
          <p:cNvSpPr/>
          <p:nvPr/>
        </p:nvSpPr>
        <p:spPr>
          <a:xfrm>
            <a:off x="4663440" y="1005840"/>
            <a:ext cx="4023360" cy="1188720"/>
          </a:xfrm>
          <a:prstGeom prst="roundRect">
            <a:avLst>
              <a:gd name="adj" fmla="val 6154"/>
            </a:avLst>
          </a:prstGeom>
          <a:solidFill>
            <a:schemeClr val="bg2"/>
          </a:solidFill>
          <a:ln w="12700">
            <a:solidFill>
              <a:schemeClr val="bg2"/>
            </a:solidFill>
            <a:prstDash val="solid"/>
          </a:ln>
        </p:spPr>
      </p:sp>
      <p:sp>
        <p:nvSpPr>
          <p:cNvPr id="9" name="Text 6"/>
          <p:cNvSpPr txBox="1"/>
          <p:nvPr/>
        </p:nvSpPr>
        <p:spPr>
          <a:xfrm>
            <a:off x="4892040" y="1143000"/>
            <a:ext cx="356616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ORGANISATION</a:t>
            </a:r>
            <a:endParaRPr lang="en-US" sz="1000" dirty="0"/>
          </a:p>
        </p:txBody>
      </p:sp>
      <p:sp>
        <p:nvSpPr>
          <p:cNvPr id="10" name="Text 7"/>
          <p:cNvSpPr txBox="1"/>
          <p:nvPr/>
        </p:nvSpPr>
        <p:spPr>
          <a:xfrm>
            <a:off x="4892040" y="1389888"/>
            <a:ext cx="3566160" cy="4114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Fantasy Solution</a:t>
            </a:r>
            <a:endParaRPr lang="en-US" sz="2200" dirty="0"/>
          </a:p>
        </p:txBody>
      </p:sp>
      <p:sp>
        <p:nvSpPr>
          <p:cNvPr id="11" name="Text 8"/>
          <p:cNvSpPr txBox="1"/>
          <p:nvPr/>
        </p:nvSpPr>
        <p:spPr>
          <a:xfrm>
            <a:off x="4892040" y="1828800"/>
            <a:ext cx="3566160" cy="256032"/>
          </a:xfrm>
          <a:prstGeom prst="rect">
            <a:avLst/>
          </a:prstGeom>
          <a:noFill/>
          <a:ln/>
        </p:spPr>
        <p:txBody>
          <a:bodyPr wrap="square" lIns="0" tIns="0" rIns="0" bIns="0" rtlCol="0" anchor="ctr"/>
          <a:lstStyle/>
          <a:p>
            <a:pPr indent="0" marL="0">
              <a:buNone/>
            </a:pPr>
            <a:r>
              <a:rPr lang="en-US" sz="1200" dirty="0">
                <a:solidFill>
                  <a:schemeClr val="accent5"/>
                </a:solidFill>
              </a:rPr>
              <a:t>Melapudur, Trichy</a:t>
            </a:r>
            <a:endParaRPr lang="en-US" sz="1200" dirty="0"/>
          </a:p>
        </p:txBody>
      </p:sp>
      <p:sp>
        <p:nvSpPr>
          <p:cNvPr id="12" name="Info card DOMAIN"/>
          <p:cNvSpPr/>
          <p:nvPr/>
        </p:nvSpPr>
        <p:spPr>
          <a:xfrm>
            <a:off x="457200" y="2331720"/>
            <a:ext cx="4023360" cy="1188720"/>
          </a:xfrm>
          <a:prstGeom prst="roundRect">
            <a:avLst>
              <a:gd name="adj" fmla="val 6154"/>
            </a:avLst>
          </a:prstGeom>
          <a:solidFill>
            <a:schemeClr val="bg2"/>
          </a:solidFill>
          <a:ln w="12700">
            <a:solidFill>
              <a:schemeClr val="bg2"/>
            </a:solidFill>
            <a:prstDash val="solid"/>
          </a:ln>
        </p:spPr>
      </p:sp>
      <p:sp>
        <p:nvSpPr>
          <p:cNvPr id="13" name="Text 10"/>
          <p:cNvSpPr txBox="1"/>
          <p:nvPr/>
        </p:nvSpPr>
        <p:spPr>
          <a:xfrm>
            <a:off x="685800" y="2468880"/>
            <a:ext cx="356616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DOMAIN</a:t>
            </a:r>
            <a:endParaRPr lang="en-US" sz="1000" dirty="0"/>
          </a:p>
        </p:txBody>
      </p:sp>
      <p:sp>
        <p:nvSpPr>
          <p:cNvPr id="14" name="Text 11"/>
          <p:cNvSpPr txBox="1"/>
          <p:nvPr/>
        </p:nvSpPr>
        <p:spPr>
          <a:xfrm>
            <a:off x="685800" y="2715768"/>
            <a:ext cx="3566160" cy="4114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Web Development</a:t>
            </a:r>
            <a:endParaRPr lang="en-US" sz="2200" dirty="0"/>
          </a:p>
        </p:txBody>
      </p:sp>
      <p:sp>
        <p:nvSpPr>
          <p:cNvPr id="15" name="Text 12"/>
          <p:cNvSpPr txBox="1"/>
          <p:nvPr/>
        </p:nvSpPr>
        <p:spPr>
          <a:xfrm>
            <a:off x="685800" y="3154680"/>
            <a:ext cx="3566160" cy="256032"/>
          </a:xfrm>
          <a:prstGeom prst="rect">
            <a:avLst/>
          </a:prstGeom>
          <a:noFill/>
          <a:ln/>
        </p:spPr>
        <p:txBody>
          <a:bodyPr wrap="square" lIns="0" tIns="0" rIns="0" bIns="0" rtlCol="0" anchor="ctr"/>
          <a:lstStyle/>
          <a:p>
            <a:pPr indent="0" marL="0">
              <a:buNone/>
            </a:pPr>
            <a:r>
              <a:rPr lang="en-US" sz="1200" dirty="0">
                <a:solidFill>
                  <a:schemeClr val="accent5"/>
                </a:solidFill>
              </a:rPr>
              <a:t>Front-end, back-end and database</a:t>
            </a:r>
            <a:endParaRPr lang="en-US" sz="1200" dirty="0"/>
          </a:p>
        </p:txBody>
      </p:sp>
      <p:sp>
        <p:nvSpPr>
          <p:cNvPr id="16" name="Info card COURSE"/>
          <p:cNvSpPr/>
          <p:nvPr/>
        </p:nvSpPr>
        <p:spPr>
          <a:xfrm>
            <a:off x="4663440" y="2331720"/>
            <a:ext cx="4023360" cy="1188720"/>
          </a:xfrm>
          <a:prstGeom prst="roundRect">
            <a:avLst>
              <a:gd name="adj" fmla="val 6154"/>
            </a:avLst>
          </a:prstGeom>
          <a:solidFill>
            <a:schemeClr val="bg2"/>
          </a:solidFill>
          <a:ln w="12700">
            <a:solidFill>
              <a:schemeClr val="bg2"/>
            </a:solidFill>
            <a:prstDash val="solid"/>
          </a:ln>
        </p:spPr>
      </p:sp>
      <p:sp>
        <p:nvSpPr>
          <p:cNvPr id="17" name="Text 14"/>
          <p:cNvSpPr txBox="1"/>
          <p:nvPr/>
        </p:nvSpPr>
        <p:spPr>
          <a:xfrm>
            <a:off x="4892040" y="2468880"/>
            <a:ext cx="3566160" cy="228600"/>
          </a:xfrm>
          <a:prstGeom prst="rect">
            <a:avLst/>
          </a:prstGeom>
          <a:noFill/>
          <a:ln/>
        </p:spPr>
        <p:txBody>
          <a:bodyPr wrap="square" lIns="0" tIns="0" rIns="0" bIns="0" rtlCol="0" anchor="ctr"/>
          <a:lstStyle/>
          <a:p>
            <a:pPr indent="0" marL="0">
              <a:buNone/>
            </a:pPr>
            <a:r>
              <a:rPr lang="en-US" sz="1000" b="1" spc="200" kern="0" dirty="0">
                <a:solidFill>
                  <a:schemeClr val="accent1"/>
                </a:solidFill>
              </a:rPr>
              <a:t>COURSE</a:t>
            </a:r>
            <a:endParaRPr lang="en-US" sz="1000" dirty="0"/>
          </a:p>
        </p:txBody>
      </p:sp>
      <p:sp>
        <p:nvSpPr>
          <p:cNvPr id="18" name="Text 15"/>
          <p:cNvSpPr txBox="1"/>
          <p:nvPr/>
        </p:nvSpPr>
        <p:spPr>
          <a:xfrm>
            <a:off x="4892040" y="2715768"/>
            <a:ext cx="3566160" cy="4114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IT3711</a:t>
            </a:r>
            <a:endParaRPr lang="en-US" sz="2200" dirty="0"/>
          </a:p>
        </p:txBody>
      </p:sp>
      <p:sp>
        <p:nvSpPr>
          <p:cNvPr id="19" name="Text 16"/>
          <p:cNvSpPr txBox="1"/>
          <p:nvPr/>
        </p:nvSpPr>
        <p:spPr>
          <a:xfrm>
            <a:off x="4892040" y="3154680"/>
            <a:ext cx="3566160" cy="256032"/>
          </a:xfrm>
          <a:prstGeom prst="rect">
            <a:avLst/>
          </a:prstGeom>
          <a:noFill/>
          <a:ln/>
        </p:spPr>
        <p:txBody>
          <a:bodyPr wrap="square" lIns="0" tIns="0" rIns="0" bIns="0" rtlCol="0" anchor="ctr"/>
          <a:lstStyle/>
          <a:p>
            <a:pPr indent="0" marL="0">
              <a:buNone/>
            </a:pPr>
            <a:r>
              <a:rPr lang="en-US" sz="1200" dirty="0">
                <a:solidFill>
                  <a:schemeClr val="accent5"/>
                </a:solidFill>
              </a:rPr>
              <a:t>Summer Internship, 7th semester</a:t>
            </a:r>
            <a:endParaRPr lang="en-US" sz="1200" dirty="0"/>
          </a:p>
        </p:txBody>
      </p:sp>
      <p:sp>
        <p:nvSpPr>
          <p:cNvPr id="20" name="Banner"/>
          <p:cNvSpPr/>
          <p:nvPr/>
        </p:nvSpPr>
        <p:spPr>
          <a:xfrm>
            <a:off x="457200" y="3794760"/>
            <a:ext cx="8229600" cy="548640"/>
          </a:xfrm>
          <a:prstGeom prst="roundRect">
            <a:avLst>
              <a:gd name="adj" fmla="val 13333"/>
            </a:avLst>
          </a:prstGeom>
          <a:solidFill>
            <a:schemeClr val="accent1"/>
          </a:solidFill>
          <a:ln w="12700">
            <a:solidFill>
              <a:schemeClr val="accent1"/>
            </a:solidFill>
            <a:prstDash val="solid"/>
          </a:ln>
        </p:spPr>
      </p:sp>
      <p:sp>
        <p:nvSpPr>
          <p:cNvPr id="21" name="Banner text"/>
          <p:cNvSpPr txBox="1"/>
          <p:nvPr/>
        </p:nvSpPr>
        <p:spPr>
          <a:xfrm>
            <a:off x="640080" y="3794760"/>
            <a:ext cx="7863840" cy="548640"/>
          </a:xfrm>
          <a:prstGeom prst="rect">
            <a:avLst/>
          </a:prstGeom>
          <a:noFill/>
          <a:ln/>
        </p:spPr>
        <p:txBody>
          <a:bodyPr wrap="square" lIns="0" tIns="0" rIns="0" bIns="0" rtlCol="0" anchor="ctr"/>
          <a:lstStyle/>
          <a:p>
            <a:pPr indent="0" marL="0">
              <a:buNone/>
            </a:pPr>
            <a:r>
              <a:rPr lang="en-US" sz="1300" b="1" dirty="0">
                <a:solidFill>
                  <a:schemeClr val="bg1"/>
                </a:solidFill>
              </a:rPr>
              <a:t>Project: </a:t>
            </a:r>
            <a:pPr indent="0" marL="0">
              <a:buNone/>
            </a:pPr>
            <a:r>
              <a:rPr lang="en-US" sz="1300" dirty="0">
                <a:solidFill>
                  <a:schemeClr val="bg1"/>
                </a:solidFill>
              </a:rPr>
              <a:t>Web-Based Railway Ticket Reservation System for passengers and administrators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28600"/>
            <a:ext cx="8229600" cy="59436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Objectives</a:t>
            </a:r>
            <a:endParaRPr lang="en-US" sz="2600" dirty="0"/>
          </a:p>
        </p:txBody>
      </p:sp>
      <p:sp>
        <p:nvSpPr>
          <p:cNvPr id="4" name="Objective 1"/>
          <p:cNvSpPr/>
          <p:nvPr/>
        </p:nvSpPr>
        <p:spPr>
          <a:xfrm>
            <a:off x="457200" y="960120"/>
            <a:ext cx="8229600" cy="640080"/>
          </a:xfrm>
          <a:prstGeom prst="roundRect">
            <a:avLst>
              <a:gd name="adj" fmla="val 11429"/>
            </a:avLst>
          </a:prstGeom>
          <a:solidFill>
            <a:schemeClr val="bg2"/>
          </a:solidFill>
          <a:ln w="12700">
            <a:solidFill>
              <a:schemeClr val="bg2"/>
            </a:solidFill>
            <a:prstDash val="solid"/>
          </a:ln>
        </p:spPr>
      </p:sp>
      <p:sp>
        <p:nvSpPr>
          <p:cNvPr id="5" name="Number 1"/>
          <p:cNvSpPr txBox="1"/>
          <p:nvPr/>
        </p:nvSpPr>
        <p:spPr>
          <a:xfrm>
            <a:off x="640080" y="1124712"/>
            <a:ext cx="310896" cy="310896"/>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6" name="Text 3"/>
          <p:cNvSpPr txBox="1"/>
          <p:nvPr/>
        </p:nvSpPr>
        <p:spPr>
          <a:xfrm>
            <a:off x="1143000" y="960120"/>
            <a:ext cx="7315200" cy="640080"/>
          </a:xfrm>
          <a:prstGeom prst="rect">
            <a:avLst/>
          </a:prstGeom>
          <a:noFill/>
          <a:ln/>
        </p:spPr>
        <p:txBody>
          <a:bodyPr wrap="square" lIns="0" tIns="0" rIns="0" bIns="0" rtlCol="0" anchor="ctr"/>
          <a:lstStyle/>
          <a:p>
            <a:pPr indent="0" marL="0">
              <a:buNone/>
            </a:pPr>
            <a:r>
              <a:rPr lang="en-US" sz="1400" dirty="0">
                <a:solidFill>
                  <a:schemeClr val="tx1"/>
                </a:solidFill>
              </a:rPr>
              <a:t>Build a user-friendly, responsive web-based railway ticket reservation system</a:t>
            </a:r>
            <a:endParaRPr lang="en-US" sz="1400" dirty="0"/>
          </a:p>
        </p:txBody>
      </p:sp>
      <p:sp>
        <p:nvSpPr>
          <p:cNvPr id="7" name="Objective 2"/>
          <p:cNvSpPr/>
          <p:nvPr/>
        </p:nvSpPr>
        <p:spPr>
          <a:xfrm>
            <a:off x="457200" y="1709928"/>
            <a:ext cx="8229600" cy="640080"/>
          </a:xfrm>
          <a:prstGeom prst="roundRect">
            <a:avLst>
              <a:gd name="adj" fmla="val 11429"/>
            </a:avLst>
          </a:prstGeom>
          <a:solidFill>
            <a:schemeClr val="bg2"/>
          </a:solidFill>
          <a:ln w="12700">
            <a:solidFill>
              <a:schemeClr val="bg2"/>
            </a:solidFill>
            <a:prstDash val="solid"/>
          </a:ln>
        </p:spPr>
      </p:sp>
      <p:sp>
        <p:nvSpPr>
          <p:cNvPr id="8" name="Number 2"/>
          <p:cNvSpPr txBox="1"/>
          <p:nvPr/>
        </p:nvSpPr>
        <p:spPr>
          <a:xfrm>
            <a:off x="640080" y="1874520"/>
            <a:ext cx="310896" cy="310896"/>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9" name="Text 6"/>
          <p:cNvSpPr txBox="1"/>
          <p:nvPr/>
        </p:nvSpPr>
        <p:spPr>
          <a:xfrm>
            <a:off x="1143000" y="1709928"/>
            <a:ext cx="7315200" cy="640080"/>
          </a:xfrm>
          <a:prstGeom prst="rect">
            <a:avLst/>
          </a:prstGeom>
          <a:noFill/>
          <a:ln/>
        </p:spPr>
        <p:txBody>
          <a:bodyPr wrap="square" lIns="0" tIns="0" rIns="0" bIns="0" rtlCol="0" anchor="ctr"/>
          <a:lstStyle/>
          <a:p>
            <a:pPr indent="0" marL="0">
              <a:buNone/>
            </a:pPr>
            <a:r>
              <a:rPr lang="en-US" sz="1400" dirty="0">
                <a:solidFill>
                  <a:schemeClr val="tx1"/>
                </a:solidFill>
              </a:rPr>
              <a:t>Let passengers search trains, check seats, book and cancel tickets online</a:t>
            </a:r>
            <a:endParaRPr lang="en-US" sz="1400" dirty="0"/>
          </a:p>
        </p:txBody>
      </p:sp>
      <p:sp>
        <p:nvSpPr>
          <p:cNvPr id="10" name="Objective 3"/>
          <p:cNvSpPr/>
          <p:nvPr/>
        </p:nvSpPr>
        <p:spPr>
          <a:xfrm>
            <a:off x="457200" y="2459736"/>
            <a:ext cx="8229600" cy="640080"/>
          </a:xfrm>
          <a:prstGeom prst="roundRect">
            <a:avLst>
              <a:gd name="adj" fmla="val 11429"/>
            </a:avLst>
          </a:prstGeom>
          <a:solidFill>
            <a:schemeClr val="bg2"/>
          </a:solidFill>
          <a:ln w="12700">
            <a:solidFill>
              <a:schemeClr val="bg2"/>
            </a:solidFill>
            <a:prstDash val="solid"/>
          </a:ln>
        </p:spPr>
      </p:sp>
      <p:sp>
        <p:nvSpPr>
          <p:cNvPr id="11" name="Number 3"/>
          <p:cNvSpPr txBox="1"/>
          <p:nvPr/>
        </p:nvSpPr>
        <p:spPr>
          <a:xfrm>
            <a:off x="640080" y="2624328"/>
            <a:ext cx="310896" cy="310896"/>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2" name="Text 9"/>
          <p:cNvSpPr txBox="1"/>
          <p:nvPr/>
        </p:nvSpPr>
        <p:spPr>
          <a:xfrm>
            <a:off x="1143000" y="2459736"/>
            <a:ext cx="7315200" cy="640080"/>
          </a:xfrm>
          <a:prstGeom prst="rect">
            <a:avLst/>
          </a:prstGeom>
          <a:noFill/>
          <a:ln/>
        </p:spPr>
        <p:txBody>
          <a:bodyPr wrap="square" lIns="0" tIns="0" rIns="0" bIns="0" rtlCol="0" anchor="ctr"/>
          <a:lstStyle/>
          <a:p>
            <a:pPr indent="0" marL="0">
              <a:buNone/>
            </a:pPr>
            <a:r>
              <a:rPr lang="en-US" sz="1400" dirty="0">
                <a:solidFill>
                  <a:schemeClr val="tx1"/>
                </a:solidFill>
              </a:rPr>
              <a:t>Provide secure login with role-based access, plus digital ticket and PNR generation</a:t>
            </a:r>
            <a:endParaRPr lang="en-US" sz="1400" dirty="0"/>
          </a:p>
        </p:txBody>
      </p:sp>
      <p:sp>
        <p:nvSpPr>
          <p:cNvPr id="13" name="Objective 4"/>
          <p:cNvSpPr/>
          <p:nvPr/>
        </p:nvSpPr>
        <p:spPr>
          <a:xfrm>
            <a:off x="457200" y="3209544"/>
            <a:ext cx="8229600" cy="640080"/>
          </a:xfrm>
          <a:prstGeom prst="roundRect">
            <a:avLst>
              <a:gd name="adj" fmla="val 11429"/>
            </a:avLst>
          </a:prstGeom>
          <a:solidFill>
            <a:schemeClr val="bg2"/>
          </a:solidFill>
          <a:ln w="12700">
            <a:solidFill>
              <a:schemeClr val="bg2"/>
            </a:solidFill>
            <a:prstDash val="solid"/>
          </a:ln>
        </p:spPr>
      </p:sp>
      <p:sp>
        <p:nvSpPr>
          <p:cNvPr id="14" name="Number 4"/>
          <p:cNvSpPr txBox="1"/>
          <p:nvPr/>
        </p:nvSpPr>
        <p:spPr>
          <a:xfrm>
            <a:off x="640080" y="3374136"/>
            <a:ext cx="310896" cy="310896"/>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5" name="Text 12"/>
          <p:cNvSpPr txBox="1"/>
          <p:nvPr/>
        </p:nvSpPr>
        <p:spPr>
          <a:xfrm>
            <a:off x="1143000" y="3209544"/>
            <a:ext cx="7315200" cy="640080"/>
          </a:xfrm>
          <a:prstGeom prst="rect">
            <a:avLst/>
          </a:prstGeom>
          <a:noFill/>
          <a:ln/>
        </p:spPr>
        <p:txBody>
          <a:bodyPr wrap="square" lIns="0" tIns="0" rIns="0" bIns="0" rtlCol="0" anchor="ctr"/>
          <a:lstStyle/>
          <a:p>
            <a:pPr indent="0" marL="0">
              <a:buNone/>
            </a:pPr>
            <a:r>
              <a:rPr lang="en-US" sz="1400" dirty="0">
                <a:solidFill>
                  <a:schemeClr val="tx1"/>
                </a:solidFill>
              </a:rPr>
              <a:t>Keep all data in a central database, with an admin module to manage trains and bookings</a:t>
            </a:r>
            <a:endParaRPr lang="en-US" sz="1400" dirty="0"/>
          </a:p>
        </p:txBody>
      </p:sp>
      <p:sp>
        <p:nvSpPr>
          <p:cNvPr id="16" name="Objective 5"/>
          <p:cNvSpPr/>
          <p:nvPr/>
        </p:nvSpPr>
        <p:spPr>
          <a:xfrm>
            <a:off x="457200" y="3959352"/>
            <a:ext cx="8229600" cy="640080"/>
          </a:xfrm>
          <a:prstGeom prst="roundRect">
            <a:avLst>
              <a:gd name="adj" fmla="val 11429"/>
            </a:avLst>
          </a:prstGeom>
          <a:solidFill>
            <a:schemeClr val="bg2"/>
          </a:solidFill>
          <a:ln w="12700">
            <a:solidFill>
              <a:schemeClr val="bg2"/>
            </a:solidFill>
            <a:prstDash val="solid"/>
          </a:ln>
        </p:spPr>
      </p:sp>
      <p:sp>
        <p:nvSpPr>
          <p:cNvPr id="17" name="Number 5"/>
          <p:cNvSpPr txBox="1"/>
          <p:nvPr/>
        </p:nvSpPr>
        <p:spPr>
          <a:xfrm>
            <a:off x="640080" y="4123944"/>
            <a:ext cx="310896" cy="310896"/>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18" name="Text 15"/>
          <p:cNvSpPr txBox="1"/>
          <p:nvPr/>
        </p:nvSpPr>
        <p:spPr>
          <a:xfrm>
            <a:off x="1143000" y="3959352"/>
            <a:ext cx="7315200" cy="640080"/>
          </a:xfrm>
          <a:prstGeom prst="rect">
            <a:avLst/>
          </a:prstGeom>
          <a:noFill/>
          <a:ln/>
        </p:spPr>
        <p:txBody>
          <a:bodyPr wrap="square" lIns="0" tIns="0" rIns="0" bIns="0" rtlCol="0" anchor="ctr"/>
          <a:lstStyle/>
          <a:p>
            <a:pPr indent="0" marL="0">
              <a:buNone/>
            </a:pPr>
            <a:r>
              <a:rPr lang="en-US" sz="1400" dirty="0">
                <a:solidFill>
                  <a:schemeClr val="tx1"/>
                </a:solidFill>
              </a:rPr>
              <a:t>Gain practical skills in front-end, back-end, database integration and testing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28600"/>
            <a:ext cx="8229600" cy="59436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30 Days of Learning</a:t>
            </a:r>
            <a:endParaRPr lang="en-US" sz="2600" dirty="0"/>
          </a:p>
        </p:txBody>
      </p:sp>
      <p:sp>
        <p:nvSpPr>
          <p:cNvPr id="4" name="Stage card 1"/>
          <p:cNvSpPr/>
          <p:nvPr/>
        </p:nvSpPr>
        <p:spPr>
          <a:xfrm>
            <a:off x="457200" y="1005840"/>
            <a:ext cx="1965960" cy="2971800"/>
          </a:xfrm>
          <a:prstGeom prst="roundRect">
            <a:avLst>
              <a:gd name="adj" fmla="val 3721"/>
            </a:avLst>
          </a:prstGeom>
          <a:solidFill>
            <a:schemeClr val="bg2"/>
          </a:solidFill>
          <a:ln w="12700">
            <a:solidFill>
              <a:schemeClr val="bg2"/>
            </a:solidFill>
            <a:prstDash val="solid"/>
          </a:ln>
        </p:spPr>
      </p:sp>
      <p:sp>
        <p:nvSpPr>
          <p:cNvPr id="5" name="Stage header 1"/>
          <p:cNvSpPr/>
          <p:nvPr/>
        </p:nvSpPr>
        <p:spPr>
          <a:xfrm>
            <a:off x="457200" y="1005840"/>
            <a:ext cx="1965960" cy="868680"/>
          </a:xfrm>
          <a:prstGeom prst="roundRect">
            <a:avLst>
              <a:gd name="adj" fmla="val 8421"/>
            </a:avLst>
          </a:prstGeom>
          <a:solidFill>
            <a:schemeClr val="tx2"/>
          </a:solidFill>
          <a:ln w="12700">
            <a:solidFill>
              <a:schemeClr val="tx2"/>
            </a:solidFill>
            <a:prstDash val="solid"/>
          </a:ln>
        </p:spPr>
      </p:sp>
      <p:sp>
        <p:nvSpPr>
          <p:cNvPr id="6" name="Text 3"/>
          <p:cNvSpPr txBox="1"/>
          <p:nvPr/>
        </p:nvSpPr>
        <p:spPr>
          <a:xfrm>
            <a:off x="640080" y="1097280"/>
            <a:ext cx="1645920" cy="228600"/>
          </a:xfrm>
          <a:prstGeom prst="rect">
            <a:avLst/>
          </a:prstGeom>
          <a:noFill/>
          <a:ln/>
        </p:spPr>
        <p:txBody>
          <a:bodyPr wrap="square" lIns="0" tIns="0" rIns="0" bIns="0" rtlCol="0" anchor="ctr"/>
          <a:lstStyle/>
          <a:p>
            <a:pPr indent="0" marL="0">
              <a:buNone/>
            </a:pPr>
            <a:r>
              <a:rPr lang="en-US" sz="1000" b="1" spc="200" kern="0" dirty="0">
                <a:solidFill>
                  <a:schemeClr val="accent6"/>
                </a:solidFill>
              </a:rPr>
              <a:t>DAYS 1-7</a:t>
            </a:r>
            <a:endParaRPr lang="en-US" sz="1000" dirty="0"/>
          </a:p>
        </p:txBody>
      </p:sp>
      <p:sp>
        <p:nvSpPr>
          <p:cNvPr id="7" name="Text 4"/>
          <p:cNvSpPr txBox="1"/>
          <p:nvPr/>
        </p:nvSpPr>
        <p:spPr>
          <a:xfrm>
            <a:off x="640080" y="1353312"/>
            <a:ext cx="1645920" cy="41148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Foundations</a:t>
            </a:r>
            <a:endParaRPr lang="en-US" sz="1800" dirty="0"/>
          </a:p>
        </p:txBody>
      </p:sp>
      <p:sp>
        <p:nvSpPr>
          <p:cNvPr id="8" name="Text 5"/>
          <p:cNvSpPr txBox="1"/>
          <p:nvPr/>
        </p:nvSpPr>
        <p:spPr>
          <a:xfrm>
            <a:off x="640080" y="2011680"/>
            <a:ext cx="1645920" cy="1920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Web basics, dev setup</a:t>
            </a:r>
            <a:endParaRPr lang="en-US" sz="1300" dirty="0"/>
          </a:p>
          <a:p>
            <a:pPr marL="342900" indent="-342900">
              <a:spcAft>
                <a:spcPts val="800"/>
              </a:spcAft>
              <a:buSzPct val="100000"/>
              <a:buChar char="•"/>
            </a:pPr>
            <a:r>
              <a:rPr lang="en-US" sz="1300" dirty="0">
                <a:solidFill>
                  <a:schemeClr val="tx1"/>
                </a:solidFill>
              </a:rPr>
              <a:t>HTML structure</a:t>
            </a:r>
            <a:endParaRPr lang="en-US" sz="1300" dirty="0"/>
          </a:p>
          <a:p>
            <a:pPr marL="342900" indent="-342900">
              <a:spcAft>
                <a:spcPts val="800"/>
              </a:spcAft>
              <a:buSzPct val="100000"/>
              <a:buChar char="•"/>
            </a:pPr>
            <a:r>
              <a:rPr lang="en-US" sz="1300" dirty="0">
                <a:solidFill>
                  <a:schemeClr val="tx1"/>
                </a:solidFill>
              </a:rPr>
              <a:t>CSS, box model</a:t>
            </a:r>
            <a:endParaRPr lang="en-US" sz="1300" dirty="0"/>
          </a:p>
          <a:p>
            <a:pPr marL="342900" indent="-342900">
              <a:spcAft>
                <a:spcPts val="800"/>
              </a:spcAft>
              <a:buSzPct val="100000"/>
              <a:buChar char="•"/>
            </a:pPr>
            <a:r>
              <a:rPr lang="en-US" sz="1300" dirty="0">
                <a:solidFill>
                  <a:schemeClr val="tx1"/>
                </a:solidFill>
              </a:rPr>
              <a:t>Responsive design</a:t>
            </a:r>
            <a:endParaRPr lang="en-US" sz="1300" dirty="0"/>
          </a:p>
          <a:p>
            <a:pPr marL="342900" indent="-342900">
              <a:spcAft>
                <a:spcPts val="800"/>
              </a:spcAft>
              <a:buSzPct val="100000"/>
              <a:buChar char="•"/>
            </a:pPr>
            <a:r>
              <a:rPr lang="en-US" sz="1300" dirty="0">
                <a:solidFill>
                  <a:schemeClr val="tx1"/>
                </a:solidFill>
              </a:rPr>
              <a:t>Typography, colour</a:t>
            </a:r>
            <a:endParaRPr lang="en-US" sz="1300" dirty="0"/>
          </a:p>
        </p:txBody>
      </p:sp>
      <p:sp>
        <p:nvSpPr>
          <p:cNvPr id="9" name="Stage card 2"/>
          <p:cNvSpPr/>
          <p:nvPr/>
        </p:nvSpPr>
        <p:spPr>
          <a:xfrm>
            <a:off x="2542032" y="1005840"/>
            <a:ext cx="1965960" cy="2971800"/>
          </a:xfrm>
          <a:prstGeom prst="roundRect">
            <a:avLst>
              <a:gd name="adj" fmla="val 3721"/>
            </a:avLst>
          </a:prstGeom>
          <a:solidFill>
            <a:schemeClr val="bg2"/>
          </a:solidFill>
          <a:ln w="12700">
            <a:solidFill>
              <a:schemeClr val="bg2"/>
            </a:solidFill>
            <a:prstDash val="solid"/>
          </a:ln>
        </p:spPr>
      </p:sp>
      <p:sp>
        <p:nvSpPr>
          <p:cNvPr id="10" name="Stage header 2"/>
          <p:cNvSpPr/>
          <p:nvPr/>
        </p:nvSpPr>
        <p:spPr>
          <a:xfrm>
            <a:off x="2542032" y="1005840"/>
            <a:ext cx="1965960" cy="868680"/>
          </a:xfrm>
          <a:prstGeom prst="roundRect">
            <a:avLst>
              <a:gd name="adj" fmla="val 8421"/>
            </a:avLst>
          </a:prstGeom>
          <a:solidFill>
            <a:schemeClr val="tx2"/>
          </a:solidFill>
          <a:ln w="12700">
            <a:solidFill>
              <a:schemeClr val="tx2"/>
            </a:solidFill>
            <a:prstDash val="solid"/>
          </a:ln>
        </p:spPr>
      </p:sp>
      <p:sp>
        <p:nvSpPr>
          <p:cNvPr id="11" name="Text 8"/>
          <p:cNvSpPr txBox="1"/>
          <p:nvPr/>
        </p:nvSpPr>
        <p:spPr>
          <a:xfrm>
            <a:off x="2724912" y="1097280"/>
            <a:ext cx="1645920" cy="228600"/>
          </a:xfrm>
          <a:prstGeom prst="rect">
            <a:avLst/>
          </a:prstGeom>
          <a:noFill/>
          <a:ln/>
        </p:spPr>
        <p:txBody>
          <a:bodyPr wrap="square" lIns="0" tIns="0" rIns="0" bIns="0" rtlCol="0" anchor="ctr"/>
          <a:lstStyle/>
          <a:p>
            <a:pPr indent="0" marL="0">
              <a:buNone/>
            </a:pPr>
            <a:r>
              <a:rPr lang="en-US" sz="1000" b="1" spc="200" kern="0" dirty="0">
                <a:solidFill>
                  <a:schemeClr val="accent6"/>
                </a:solidFill>
              </a:rPr>
              <a:t>DAYS 8-16</a:t>
            </a:r>
            <a:endParaRPr lang="en-US" sz="1000" dirty="0"/>
          </a:p>
        </p:txBody>
      </p:sp>
      <p:sp>
        <p:nvSpPr>
          <p:cNvPr id="12" name="Text 9"/>
          <p:cNvSpPr txBox="1"/>
          <p:nvPr/>
        </p:nvSpPr>
        <p:spPr>
          <a:xfrm>
            <a:off x="2724912" y="1353312"/>
            <a:ext cx="1645920" cy="41148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Design and UX</a:t>
            </a:r>
            <a:endParaRPr lang="en-US" sz="1800" dirty="0"/>
          </a:p>
        </p:txBody>
      </p:sp>
      <p:sp>
        <p:nvSpPr>
          <p:cNvPr id="13" name="Text 10"/>
          <p:cNvSpPr txBox="1"/>
          <p:nvPr/>
        </p:nvSpPr>
        <p:spPr>
          <a:xfrm>
            <a:off x="2724912" y="2011680"/>
            <a:ext cx="1645920" cy="1920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Images, navigation</a:t>
            </a:r>
            <a:endParaRPr lang="en-US" sz="1300" dirty="0"/>
          </a:p>
          <a:p>
            <a:pPr marL="342900" indent="-342900">
              <a:spcAft>
                <a:spcPts val="800"/>
              </a:spcAft>
              <a:buSzPct val="100000"/>
              <a:buChar char="•"/>
            </a:pPr>
            <a:r>
              <a:rPr lang="en-US" sz="1300" dirty="0">
                <a:solidFill>
                  <a:schemeClr val="tx1"/>
                </a:solidFill>
              </a:rPr>
              <a:t>UX and UI design</a:t>
            </a:r>
            <a:endParaRPr lang="en-US" sz="1300" dirty="0"/>
          </a:p>
          <a:p>
            <a:pPr marL="342900" indent="-342900">
              <a:spcAft>
                <a:spcPts val="800"/>
              </a:spcAft>
              <a:buSzPct val="100000"/>
              <a:buChar char="•"/>
            </a:pPr>
            <a:r>
              <a:rPr lang="en-US" sz="1300" dirty="0">
                <a:solidFill>
                  <a:schemeClr val="tx1"/>
                </a:solidFill>
              </a:rPr>
              <a:t>Accessibility</a:t>
            </a:r>
            <a:endParaRPr lang="en-US" sz="1300" dirty="0"/>
          </a:p>
          <a:p>
            <a:pPr marL="342900" indent="-342900">
              <a:spcAft>
                <a:spcPts val="800"/>
              </a:spcAft>
              <a:buSzPct val="100000"/>
              <a:buChar char="•"/>
            </a:pPr>
            <a:r>
              <a:rPr lang="en-US" sz="1300" dirty="0">
                <a:solidFill>
                  <a:schemeClr val="tx1"/>
                </a:solidFill>
              </a:rPr>
              <a:t>Bootstrap, Foundation</a:t>
            </a:r>
            <a:endParaRPr lang="en-US" sz="1300" dirty="0"/>
          </a:p>
          <a:p>
            <a:pPr marL="342900" indent="-342900">
              <a:spcAft>
                <a:spcPts val="800"/>
              </a:spcAft>
              <a:buSzPct val="100000"/>
              <a:buChar char="•"/>
            </a:pPr>
            <a:r>
              <a:rPr lang="en-US" sz="1300" dirty="0">
                <a:solidFill>
                  <a:schemeClr val="tx1"/>
                </a:solidFill>
              </a:rPr>
              <a:t>Interaction, speed</a:t>
            </a:r>
            <a:endParaRPr lang="en-US" sz="1300" dirty="0"/>
          </a:p>
        </p:txBody>
      </p:sp>
      <p:sp>
        <p:nvSpPr>
          <p:cNvPr id="14" name="Stage card 3"/>
          <p:cNvSpPr/>
          <p:nvPr/>
        </p:nvSpPr>
        <p:spPr>
          <a:xfrm>
            <a:off x="4626864" y="1005840"/>
            <a:ext cx="1965960" cy="2971800"/>
          </a:xfrm>
          <a:prstGeom prst="roundRect">
            <a:avLst>
              <a:gd name="adj" fmla="val 3721"/>
            </a:avLst>
          </a:prstGeom>
          <a:solidFill>
            <a:schemeClr val="bg2"/>
          </a:solidFill>
          <a:ln w="12700">
            <a:solidFill>
              <a:schemeClr val="bg2"/>
            </a:solidFill>
            <a:prstDash val="solid"/>
          </a:ln>
        </p:spPr>
      </p:sp>
      <p:sp>
        <p:nvSpPr>
          <p:cNvPr id="15" name="Stage header 3"/>
          <p:cNvSpPr/>
          <p:nvPr/>
        </p:nvSpPr>
        <p:spPr>
          <a:xfrm>
            <a:off x="4626864" y="1005840"/>
            <a:ext cx="1965960" cy="868680"/>
          </a:xfrm>
          <a:prstGeom prst="roundRect">
            <a:avLst>
              <a:gd name="adj" fmla="val 8421"/>
            </a:avLst>
          </a:prstGeom>
          <a:solidFill>
            <a:schemeClr val="tx2"/>
          </a:solidFill>
          <a:ln w="12700">
            <a:solidFill>
              <a:schemeClr val="tx2"/>
            </a:solidFill>
            <a:prstDash val="solid"/>
          </a:ln>
        </p:spPr>
      </p:sp>
      <p:sp>
        <p:nvSpPr>
          <p:cNvPr id="16" name="Text 13"/>
          <p:cNvSpPr txBox="1"/>
          <p:nvPr/>
        </p:nvSpPr>
        <p:spPr>
          <a:xfrm>
            <a:off x="4809744" y="1097280"/>
            <a:ext cx="1645920" cy="228600"/>
          </a:xfrm>
          <a:prstGeom prst="rect">
            <a:avLst/>
          </a:prstGeom>
          <a:noFill/>
          <a:ln/>
        </p:spPr>
        <p:txBody>
          <a:bodyPr wrap="square" lIns="0" tIns="0" rIns="0" bIns="0" rtlCol="0" anchor="ctr"/>
          <a:lstStyle/>
          <a:p>
            <a:pPr indent="0" marL="0">
              <a:buNone/>
            </a:pPr>
            <a:r>
              <a:rPr lang="en-US" sz="1000" b="1" spc="200" kern="0" dirty="0">
                <a:solidFill>
                  <a:schemeClr val="accent6"/>
                </a:solidFill>
              </a:rPr>
              <a:t>DAYS 17-24</a:t>
            </a:r>
            <a:endParaRPr lang="en-US" sz="1000" dirty="0"/>
          </a:p>
        </p:txBody>
      </p:sp>
      <p:sp>
        <p:nvSpPr>
          <p:cNvPr id="17" name="Text 14"/>
          <p:cNvSpPr txBox="1"/>
          <p:nvPr/>
        </p:nvSpPr>
        <p:spPr>
          <a:xfrm>
            <a:off x="4809744" y="1353312"/>
            <a:ext cx="1645920" cy="41148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JavaScript</a:t>
            </a:r>
            <a:endParaRPr lang="en-US" sz="1800" dirty="0"/>
          </a:p>
        </p:txBody>
      </p:sp>
      <p:sp>
        <p:nvSpPr>
          <p:cNvPr id="18" name="Text 15"/>
          <p:cNvSpPr txBox="1"/>
          <p:nvPr/>
        </p:nvSpPr>
        <p:spPr>
          <a:xfrm>
            <a:off x="4809744" y="2011680"/>
            <a:ext cx="1645920" cy="1920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JS syntax, functions</a:t>
            </a:r>
            <a:endParaRPr lang="en-US" sz="1300" dirty="0"/>
          </a:p>
          <a:p>
            <a:pPr marL="342900" indent="-342900">
              <a:spcAft>
                <a:spcPts val="800"/>
              </a:spcAft>
              <a:buSzPct val="100000"/>
              <a:buChar char="•"/>
            </a:pPr>
            <a:r>
              <a:rPr lang="en-US" sz="1300" dirty="0">
                <a:solidFill>
                  <a:schemeClr val="tx1"/>
                </a:solidFill>
              </a:rPr>
              <a:t>DOM, event handling</a:t>
            </a:r>
            <a:endParaRPr lang="en-US" sz="1300" dirty="0"/>
          </a:p>
          <a:p>
            <a:pPr marL="342900" indent="-342900">
              <a:spcAft>
                <a:spcPts val="800"/>
              </a:spcAft>
              <a:buSzPct val="100000"/>
              <a:buChar char="•"/>
            </a:pPr>
            <a:r>
              <a:rPr lang="en-US" sz="1300" dirty="0">
                <a:solidFill>
                  <a:schemeClr val="tx1"/>
                </a:solidFill>
              </a:rPr>
              <a:t>User-centred design</a:t>
            </a:r>
            <a:endParaRPr lang="en-US" sz="1300" dirty="0"/>
          </a:p>
          <a:p>
            <a:pPr marL="342900" indent="-342900">
              <a:spcAft>
                <a:spcPts val="800"/>
              </a:spcAft>
              <a:buSzPct val="100000"/>
              <a:buChar char="•"/>
            </a:pPr>
            <a:r>
              <a:rPr lang="en-US" sz="1300" dirty="0">
                <a:solidFill>
                  <a:schemeClr val="tx1"/>
                </a:solidFill>
              </a:rPr>
              <a:t>Mobile-first layouts</a:t>
            </a:r>
            <a:endParaRPr lang="en-US" sz="1300" dirty="0"/>
          </a:p>
          <a:p>
            <a:pPr marL="342900" indent="-342900">
              <a:spcAft>
                <a:spcPts val="800"/>
              </a:spcAft>
              <a:buSzPct val="100000"/>
              <a:buChar char="•"/>
            </a:pPr>
            <a:r>
              <a:rPr lang="en-US" sz="1300" dirty="0">
                <a:solidFill>
                  <a:schemeClr val="tx1"/>
                </a:solidFill>
              </a:rPr>
              <a:t>Usability testing</a:t>
            </a:r>
            <a:endParaRPr lang="en-US" sz="1300" dirty="0"/>
          </a:p>
        </p:txBody>
      </p:sp>
      <p:sp>
        <p:nvSpPr>
          <p:cNvPr id="19" name="Stage card 4"/>
          <p:cNvSpPr/>
          <p:nvPr/>
        </p:nvSpPr>
        <p:spPr>
          <a:xfrm>
            <a:off x="6711696" y="1005840"/>
            <a:ext cx="1965960" cy="2971800"/>
          </a:xfrm>
          <a:prstGeom prst="roundRect">
            <a:avLst>
              <a:gd name="adj" fmla="val 3721"/>
            </a:avLst>
          </a:prstGeom>
          <a:solidFill>
            <a:schemeClr val="bg2"/>
          </a:solidFill>
          <a:ln w="12700">
            <a:solidFill>
              <a:schemeClr val="bg2"/>
            </a:solidFill>
            <a:prstDash val="solid"/>
          </a:ln>
        </p:spPr>
      </p:sp>
      <p:sp>
        <p:nvSpPr>
          <p:cNvPr id="20" name="Stage header 4"/>
          <p:cNvSpPr/>
          <p:nvPr/>
        </p:nvSpPr>
        <p:spPr>
          <a:xfrm>
            <a:off x="6711696" y="1005840"/>
            <a:ext cx="1965960" cy="868680"/>
          </a:xfrm>
          <a:prstGeom prst="roundRect">
            <a:avLst>
              <a:gd name="adj" fmla="val 8421"/>
            </a:avLst>
          </a:prstGeom>
          <a:solidFill>
            <a:schemeClr val="tx2"/>
          </a:solidFill>
          <a:ln w="12700">
            <a:solidFill>
              <a:schemeClr val="tx2"/>
            </a:solidFill>
            <a:prstDash val="solid"/>
          </a:ln>
        </p:spPr>
      </p:sp>
      <p:sp>
        <p:nvSpPr>
          <p:cNvPr id="21" name="Text 18"/>
          <p:cNvSpPr txBox="1"/>
          <p:nvPr/>
        </p:nvSpPr>
        <p:spPr>
          <a:xfrm>
            <a:off x="6894576" y="1097280"/>
            <a:ext cx="1645920" cy="228600"/>
          </a:xfrm>
          <a:prstGeom prst="rect">
            <a:avLst/>
          </a:prstGeom>
          <a:noFill/>
          <a:ln/>
        </p:spPr>
        <p:txBody>
          <a:bodyPr wrap="square" lIns="0" tIns="0" rIns="0" bIns="0" rtlCol="0" anchor="ctr"/>
          <a:lstStyle/>
          <a:p>
            <a:pPr indent="0" marL="0">
              <a:buNone/>
            </a:pPr>
            <a:r>
              <a:rPr lang="en-US" sz="1000" b="1" spc="200" kern="0" dirty="0">
                <a:solidFill>
                  <a:schemeClr val="accent6"/>
                </a:solidFill>
              </a:rPr>
              <a:t>DAYS 25-30</a:t>
            </a:r>
            <a:endParaRPr lang="en-US" sz="1000" dirty="0"/>
          </a:p>
        </p:txBody>
      </p:sp>
      <p:sp>
        <p:nvSpPr>
          <p:cNvPr id="22" name="Text 19"/>
          <p:cNvSpPr txBox="1"/>
          <p:nvPr/>
        </p:nvSpPr>
        <p:spPr>
          <a:xfrm>
            <a:off x="6894576" y="1353312"/>
            <a:ext cx="1645920" cy="41148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Web Practice</a:t>
            </a:r>
            <a:endParaRPr lang="en-US" sz="1800" dirty="0"/>
          </a:p>
        </p:txBody>
      </p:sp>
      <p:sp>
        <p:nvSpPr>
          <p:cNvPr id="23" name="Text 20"/>
          <p:cNvSpPr txBox="1"/>
          <p:nvPr/>
        </p:nvSpPr>
        <p:spPr>
          <a:xfrm>
            <a:off x="6894576" y="2011680"/>
            <a:ext cx="1645920" cy="19202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E-commerce design</a:t>
            </a:r>
            <a:endParaRPr lang="en-US" sz="1300" dirty="0"/>
          </a:p>
          <a:p>
            <a:pPr marL="342900" indent="-342900">
              <a:spcAft>
                <a:spcPts val="800"/>
              </a:spcAft>
              <a:buSzPct val="100000"/>
              <a:buChar char="•"/>
            </a:pPr>
            <a:r>
              <a:rPr lang="en-US" sz="1300" dirty="0">
                <a:solidFill>
                  <a:schemeClr val="tx1"/>
                </a:solidFill>
              </a:rPr>
              <a:t>SEO, analytics</a:t>
            </a:r>
            <a:endParaRPr lang="en-US" sz="1300" dirty="0"/>
          </a:p>
          <a:p>
            <a:pPr marL="342900" indent="-342900">
              <a:spcAft>
                <a:spcPts val="800"/>
              </a:spcAft>
              <a:buSzPct val="100000"/>
              <a:buChar char="•"/>
            </a:pPr>
            <a:r>
              <a:rPr lang="en-US" sz="1300" dirty="0">
                <a:solidFill>
                  <a:schemeClr val="tx1"/>
                </a:solidFill>
              </a:rPr>
              <a:t>HTTPS, XSS security</a:t>
            </a:r>
            <a:endParaRPr lang="en-US" sz="1300" dirty="0"/>
          </a:p>
          <a:p>
            <a:pPr marL="342900" indent="-342900">
              <a:spcAft>
                <a:spcPts val="800"/>
              </a:spcAft>
              <a:buSzPct val="100000"/>
              <a:buChar char="•"/>
            </a:pPr>
            <a:r>
              <a:rPr lang="en-US" sz="1300" dirty="0">
                <a:solidFill>
                  <a:schemeClr val="tx1"/>
                </a:solidFill>
              </a:rPr>
              <a:t>CMS overview</a:t>
            </a:r>
            <a:endParaRPr lang="en-US" sz="1300" dirty="0"/>
          </a:p>
          <a:p>
            <a:pPr marL="342900" indent="-342900">
              <a:spcAft>
                <a:spcPts val="800"/>
              </a:spcAft>
              <a:buSzPct val="100000"/>
              <a:buChar char="•"/>
            </a:pPr>
            <a:r>
              <a:rPr lang="en-US" sz="1300" dirty="0">
                <a:solidFill>
                  <a:schemeClr val="tx1"/>
                </a:solidFill>
              </a:rPr>
              <a:t>Database, CRUD</a:t>
            </a:r>
            <a:endParaRPr lang="en-US" sz="1300" dirty="0"/>
          </a:p>
        </p:txBody>
      </p:sp>
      <p:sp>
        <p:nvSpPr>
          <p:cNvPr id="24" name="Banner"/>
          <p:cNvSpPr/>
          <p:nvPr/>
        </p:nvSpPr>
        <p:spPr>
          <a:xfrm>
            <a:off x="457200" y="4114800"/>
            <a:ext cx="8229600" cy="457200"/>
          </a:xfrm>
          <a:prstGeom prst="roundRect">
            <a:avLst>
              <a:gd name="adj" fmla="val 16000"/>
            </a:avLst>
          </a:prstGeom>
          <a:solidFill>
            <a:schemeClr val="accent1"/>
          </a:solidFill>
          <a:ln w="12700">
            <a:solidFill>
              <a:schemeClr val="accent1"/>
            </a:solidFill>
            <a:prstDash val="solid"/>
          </a:ln>
        </p:spPr>
      </p:sp>
      <p:sp>
        <p:nvSpPr>
          <p:cNvPr id="25" name="Banner text"/>
          <p:cNvSpPr txBox="1"/>
          <p:nvPr/>
        </p:nvSpPr>
        <p:spPr>
          <a:xfrm>
            <a:off x="640080" y="4114800"/>
            <a:ext cx="7863840" cy="457200"/>
          </a:xfrm>
          <a:prstGeom prst="rect">
            <a:avLst/>
          </a:prstGeom>
          <a:noFill/>
          <a:ln/>
        </p:spPr>
        <p:txBody>
          <a:bodyPr wrap="square" lIns="0" tIns="0" rIns="0" bIns="0" rtlCol="0" anchor="ctr"/>
          <a:lstStyle/>
          <a:p>
            <a:pPr indent="0" marL="0">
              <a:buNone/>
            </a:pPr>
            <a:r>
              <a:rPr lang="en-US" sz="1300" b="1" dirty="0">
                <a:solidFill>
                  <a:schemeClr val="bg1"/>
                </a:solidFill>
              </a:rPr>
              <a:t>Applied next: </a:t>
            </a:r>
            <a:pPr indent="0" marL="0">
              <a:buNone/>
            </a:pPr>
            <a:r>
              <a:rPr lang="en-US" sz="1300" dirty="0">
                <a:solidFill>
                  <a:schemeClr val="bg1"/>
                </a:solidFill>
              </a:rPr>
              <a:t>these web basics were used to build the railway reservation system.</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28600"/>
            <a:ext cx="8229600" cy="59436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Problem and Proposed Solution</a:t>
            </a:r>
            <a:endParaRPr lang="en-US" sz="2600" dirty="0"/>
          </a:p>
        </p:txBody>
      </p:sp>
      <p:sp>
        <p:nvSpPr>
          <p:cNvPr id="4" name="Problem card"/>
          <p:cNvSpPr/>
          <p:nvPr/>
        </p:nvSpPr>
        <p:spPr>
          <a:xfrm>
            <a:off x="457200" y="1005840"/>
            <a:ext cx="4023360" cy="2743200"/>
          </a:xfrm>
          <a:prstGeom prst="roundRect">
            <a:avLst>
              <a:gd name="adj" fmla="val 2667"/>
            </a:avLst>
          </a:prstGeom>
          <a:solidFill>
            <a:schemeClr val="bg2"/>
          </a:solidFill>
          <a:ln w="12700">
            <a:solidFill>
              <a:schemeClr val="bg2"/>
            </a:solidFill>
            <a:prstDash val="solid"/>
          </a:ln>
        </p:spPr>
      </p:sp>
      <p:sp>
        <p:nvSpPr>
          <p:cNvPr id="5" name="Text 2"/>
          <p:cNvSpPr txBox="1"/>
          <p:nvPr/>
        </p:nvSpPr>
        <p:spPr>
          <a:xfrm>
            <a:off x="685800" y="1097280"/>
            <a:ext cx="3566160" cy="365760"/>
          </a:xfrm>
          <a:prstGeom prst="rect">
            <a:avLst/>
          </a:prstGeom>
          <a:noFill/>
          <a:ln/>
        </p:spPr>
        <p:txBody>
          <a:bodyPr wrap="square" lIns="0" tIns="0" rIns="0" bIns="0" rtlCol="0" anchor="ctr"/>
          <a:lstStyle/>
          <a:p>
            <a:pPr indent="0" marL="0">
              <a:buNone/>
            </a:pPr>
            <a:r>
              <a:rPr lang="en-US" sz="1800" b="1" dirty="0">
                <a:solidFill>
                  <a:schemeClr val="accent4"/>
                </a:solidFill>
                <a:latin typeface="Cambria" pitchFamily="34" charset="0"/>
                <a:ea typeface="Cambria" pitchFamily="34" charset="-122"/>
                <a:cs typeface="Cambria" pitchFamily="34" charset="-120"/>
              </a:rPr>
              <a:t>The problem</a:t>
            </a:r>
            <a:endParaRPr lang="en-US" sz="1800" dirty="0"/>
          </a:p>
        </p:txBody>
      </p:sp>
      <p:sp>
        <p:nvSpPr>
          <p:cNvPr id="6" name="Text 3"/>
          <p:cNvSpPr txBox="1"/>
          <p:nvPr/>
        </p:nvSpPr>
        <p:spPr>
          <a:xfrm>
            <a:off x="685800" y="1508760"/>
            <a:ext cx="3611880" cy="2148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Complex navigation and long processing time</a:t>
            </a:r>
            <a:endParaRPr lang="en-US" sz="1400" dirty="0"/>
          </a:p>
          <a:p>
            <a:pPr marL="342900" indent="-342900">
              <a:spcAft>
                <a:spcPts val="800"/>
              </a:spcAft>
              <a:buSzPct val="100000"/>
              <a:buChar char="•"/>
            </a:pPr>
            <a:r>
              <a:rPr lang="en-US" sz="1400" dirty="0">
                <a:solidFill>
                  <a:schemeClr val="tx1"/>
                </a:solidFill>
              </a:rPr>
              <a:t>Counter booking needs a visit and queues</a:t>
            </a:r>
            <a:endParaRPr lang="en-US" sz="1400" dirty="0"/>
          </a:p>
          <a:p>
            <a:pPr marL="342900" indent="-342900">
              <a:spcAft>
                <a:spcPts val="800"/>
              </a:spcAft>
              <a:buSzPct val="100000"/>
              <a:buChar char="•"/>
            </a:pPr>
            <a:r>
              <a:rPr lang="en-US" sz="1400" dirty="0">
                <a:solidFill>
                  <a:schemeClr val="tx1"/>
                </a:solidFill>
              </a:rPr>
              <a:t>Limited accessibility for passengers</a:t>
            </a:r>
            <a:endParaRPr lang="en-US" sz="1400" dirty="0"/>
          </a:p>
          <a:p>
            <a:pPr marL="342900" indent="-342900">
              <a:spcAft>
                <a:spcPts val="800"/>
              </a:spcAft>
              <a:buSzPct val="100000"/>
              <a:buChar char="•"/>
            </a:pPr>
            <a:r>
              <a:rPr lang="en-US" sz="1400" dirty="0">
                <a:solidFill>
                  <a:schemeClr val="tx1"/>
                </a:solidFill>
              </a:rPr>
              <a:t>Hard to track bookings, PNR and cancellations</a:t>
            </a:r>
            <a:endParaRPr lang="en-US" sz="1400" dirty="0"/>
          </a:p>
          <a:p>
            <a:pPr marL="342900" indent="-342900">
              <a:spcAft>
                <a:spcPts val="800"/>
              </a:spcAft>
              <a:buSzPct val="100000"/>
              <a:buChar char="•"/>
            </a:pPr>
            <a:r>
              <a:rPr lang="en-US" sz="1400" dirty="0">
                <a:solidFill>
                  <a:schemeClr val="tx1"/>
                </a:solidFill>
              </a:rPr>
              <a:t>Errors and delays when schedules or seats are updated</a:t>
            </a:r>
            <a:endParaRPr lang="en-US" sz="1400" dirty="0"/>
          </a:p>
        </p:txBody>
      </p:sp>
      <p:sp>
        <p:nvSpPr>
          <p:cNvPr id="7" name="Solution card"/>
          <p:cNvSpPr/>
          <p:nvPr/>
        </p:nvSpPr>
        <p:spPr>
          <a:xfrm>
            <a:off x="4663440" y="1005840"/>
            <a:ext cx="4023360" cy="2743200"/>
          </a:xfrm>
          <a:prstGeom prst="roundRect">
            <a:avLst>
              <a:gd name="adj" fmla="val 2667"/>
            </a:avLst>
          </a:prstGeom>
          <a:solidFill>
            <a:schemeClr val="tx2"/>
          </a:solidFill>
          <a:ln w="12700">
            <a:solidFill>
              <a:schemeClr val="tx2"/>
            </a:solidFill>
            <a:prstDash val="solid"/>
          </a:ln>
        </p:spPr>
      </p:sp>
      <p:sp>
        <p:nvSpPr>
          <p:cNvPr id="8" name="Text 5"/>
          <p:cNvSpPr txBox="1"/>
          <p:nvPr/>
        </p:nvSpPr>
        <p:spPr>
          <a:xfrm>
            <a:off x="4892040" y="1097280"/>
            <a:ext cx="3566160" cy="365760"/>
          </a:xfrm>
          <a:prstGeom prst="rect">
            <a:avLst/>
          </a:prstGeom>
          <a:noFill/>
          <a:ln/>
        </p:spPr>
        <p:txBody>
          <a:bodyPr wrap="square" lIns="0" tIns="0" rIns="0" bIns="0" rtlCol="0" anchor="ctr"/>
          <a:lstStyle/>
          <a:p>
            <a:pPr indent="0" marL="0">
              <a:buNone/>
            </a:pPr>
            <a:r>
              <a:rPr lang="en-US" sz="1800" b="1" dirty="0">
                <a:solidFill>
                  <a:schemeClr val="accent6"/>
                </a:solidFill>
                <a:latin typeface="Cambria" pitchFamily="34" charset="0"/>
                <a:ea typeface="Cambria" pitchFamily="34" charset="-122"/>
                <a:cs typeface="Cambria" pitchFamily="34" charset="-120"/>
              </a:rPr>
              <a:t>The solution</a:t>
            </a:r>
            <a:endParaRPr lang="en-US" sz="1800" dirty="0"/>
          </a:p>
        </p:txBody>
      </p:sp>
      <p:sp>
        <p:nvSpPr>
          <p:cNvPr id="9" name="Text 6"/>
          <p:cNvSpPr txBox="1"/>
          <p:nvPr/>
        </p:nvSpPr>
        <p:spPr>
          <a:xfrm>
            <a:off x="4892040" y="1508760"/>
            <a:ext cx="3611880" cy="2148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One web platform: register, search, book, pay, cancel</a:t>
            </a:r>
            <a:endParaRPr lang="en-US" sz="1400" dirty="0"/>
          </a:p>
          <a:p>
            <a:pPr marL="342900" indent="-342900">
              <a:spcAft>
                <a:spcPts val="800"/>
              </a:spcAft>
              <a:buSzPct val="100000"/>
              <a:buChar char="•"/>
            </a:pPr>
            <a:r>
              <a:rPr lang="en-US" sz="1400" dirty="0">
                <a:solidFill>
                  <a:schemeClr val="bg1"/>
                </a:solidFill>
              </a:rPr>
              <a:t>Seat selection from live database availability</a:t>
            </a:r>
            <a:endParaRPr lang="en-US" sz="1400" dirty="0"/>
          </a:p>
          <a:p>
            <a:pPr marL="342900" indent="-342900">
              <a:spcAft>
                <a:spcPts val="800"/>
              </a:spcAft>
              <a:buSzPct val="100000"/>
              <a:buChar char="•"/>
            </a:pPr>
            <a:r>
              <a:rPr lang="en-US" sz="1400" dirty="0">
                <a:solidFill>
                  <a:schemeClr val="bg1"/>
                </a:solidFill>
              </a:rPr>
              <a:t>Automatic PNR and digital ticket after payment</a:t>
            </a:r>
            <a:endParaRPr lang="en-US" sz="1400" dirty="0"/>
          </a:p>
          <a:p>
            <a:pPr marL="342900" indent="-342900">
              <a:spcAft>
                <a:spcPts val="800"/>
              </a:spcAft>
              <a:buSzPct val="100000"/>
              <a:buChar char="•"/>
            </a:pPr>
            <a:r>
              <a:rPr lang="en-US" sz="1400" dirty="0">
                <a:solidFill>
                  <a:schemeClr val="bg1"/>
                </a:solidFill>
              </a:rPr>
              <a:t>Admin module for trains, schedules, users, bookings</a:t>
            </a:r>
            <a:endParaRPr lang="en-US" sz="1400" dirty="0"/>
          </a:p>
          <a:p>
            <a:pPr marL="342900" indent="-342900">
              <a:spcAft>
                <a:spcPts val="800"/>
              </a:spcAft>
              <a:buSzPct val="100000"/>
              <a:buChar char="•"/>
            </a:pPr>
            <a:r>
              <a:rPr lang="en-US" sz="1400" dirty="0">
                <a:solidFill>
                  <a:schemeClr val="bg1"/>
                </a:solidFill>
              </a:rPr>
              <a:t>Responsive interface for different devices</a:t>
            </a:r>
            <a:endParaRPr lang="en-US" sz="1400" dirty="0"/>
          </a:p>
        </p:txBody>
      </p:sp>
      <p:sp>
        <p:nvSpPr>
          <p:cNvPr id="10" name="Banner"/>
          <p:cNvSpPr/>
          <p:nvPr/>
        </p:nvSpPr>
        <p:spPr>
          <a:xfrm>
            <a:off x="457200" y="3931920"/>
            <a:ext cx="8229600" cy="548640"/>
          </a:xfrm>
          <a:prstGeom prst="roundRect">
            <a:avLst>
              <a:gd name="adj" fmla="val 13333"/>
            </a:avLst>
          </a:prstGeom>
          <a:solidFill>
            <a:schemeClr val="accent1"/>
          </a:solidFill>
          <a:ln w="12700">
            <a:solidFill>
              <a:schemeClr val="accent1"/>
            </a:solidFill>
            <a:prstDash val="solid"/>
          </a:ln>
        </p:spPr>
      </p:sp>
      <p:sp>
        <p:nvSpPr>
          <p:cNvPr id="11" name="Banner text"/>
          <p:cNvSpPr txBox="1"/>
          <p:nvPr/>
        </p:nvSpPr>
        <p:spPr>
          <a:xfrm>
            <a:off x="640080" y="3931920"/>
            <a:ext cx="7863840" cy="548640"/>
          </a:xfrm>
          <a:prstGeom prst="rect">
            <a:avLst/>
          </a:prstGeom>
          <a:noFill/>
          <a:ln/>
        </p:spPr>
        <p:txBody>
          <a:bodyPr wrap="square" lIns="0" tIns="0" rIns="0" bIns="0" rtlCol="0" anchor="ctr"/>
          <a:lstStyle/>
          <a:p>
            <a:pPr indent="0" marL="0">
              <a:buNone/>
            </a:pPr>
            <a:r>
              <a:rPr lang="en-US" sz="1300" b="1" dirty="0">
                <a:solidFill>
                  <a:schemeClr val="bg1"/>
                </a:solidFill>
              </a:rPr>
              <a:t>Two roles: </a:t>
            </a:r>
            <a:pPr indent="0" marL="0">
              <a:buNone/>
            </a:pPr>
            <a:r>
              <a:rPr lang="en-US" sz="1300" dirty="0">
                <a:solidFill>
                  <a:schemeClr val="bg1"/>
                </a:solidFill>
              </a:rPr>
              <a:t>passengers book and manage tickets; admins manage trains, schedules, users and bookings.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28600"/>
            <a:ext cx="8229600" cy="59436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System Architecture</a:t>
            </a:r>
            <a:endParaRPr lang="en-US" sz="2600" dirty="0"/>
          </a:p>
        </p:txBody>
      </p:sp>
      <p:sp>
        <p:nvSpPr>
          <p:cNvPr id="4" name="Layer Passenger"/>
          <p:cNvSpPr/>
          <p:nvPr/>
        </p:nvSpPr>
        <p:spPr>
          <a:xfrm>
            <a:off x="457200" y="1005840"/>
            <a:ext cx="1737360" cy="914400"/>
          </a:xfrm>
          <a:prstGeom prst="roundRect">
            <a:avLst>
              <a:gd name="adj" fmla="val 8000"/>
            </a:avLst>
          </a:prstGeom>
          <a:solidFill>
            <a:schemeClr val="bg2"/>
          </a:solidFill>
          <a:ln w="12700">
            <a:solidFill>
              <a:schemeClr val="bg2"/>
            </a:solidFill>
            <a:prstDash val="solid"/>
          </a:ln>
        </p:spPr>
      </p:sp>
      <p:sp>
        <p:nvSpPr>
          <p:cNvPr id="5" name="Number 1"/>
          <p:cNvSpPr txBox="1"/>
          <p:nvPr/>
        </p:nvSpPr>
        <p:spPr>
          <a:xfrm>
            <a:off x="566928" y="1097280"/>
            <a:ext cx="274320" cy="274320"/>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6" name="Text 3"/>
          <p:cNvSpPr txBox="1"/>
          <p:nvPr/>
        </p:nvSpPr>
        <p:spPr>
          <a:xfrm>
            <a:off x="548640" y="1371600"/>
            <a:ext cx="1554480" cy="256032"/>
          </a:xfrm>
          <a:prstGeom prst="rect">
            <a:avLst/>
          </a:prstGeom>
          <a:noFill/>
          <a:ln/>
        </p:spPr>
        <p:txBody>
          <a:bodyPr wrap="square" lIns="0" tIns="0" rIns="0" bIns="0" rtlCol="0" anchor="ctr"/>
          <a:lstStyle/>
          <a:p>
            <a:pPr algn="ctr" indent="0" marL="0">
              <a:buNone/>
            </a:pPr>
            <a:r>
              <a:rPr lang="en-US" sz="1400" b="1" dirty="0">
                <a:solidFill>
                  <a:schemeClr val="tx2"/>
                </a:solidFill>
              </a:rPr>
              <a:t>Passenger</a:t>
            </a:r>
            <a:endParaRPr lang="en-US" sz="1400" dirty="0"/>
          </a:p>
        </p:txBody>
      </p:sp>
      <p:sp>
        <p:nvSpPr>
          <p:cNvPr id="7" name="Text 4"/>
          <p:cNvSpPr txBox="1"/>
          <p:nvPr/>
        </p:nvSpPr>
        <p:spPr>
          <a:xfrm>
            <a:off x="548640" y="1627632"/>
            <a:ext cx="1554480" cy="228600"/>
          </a:xfrm>
          <a:prstGeom prst="rect">
            <a:avLst/>
          </a:prstGeom>
          <a:noFill/>
          <a:ln/>
        </p:spPr>
        <p:txBody>
          <a:bodyPr wrap="square" lIns="0" tIns="0" rIns="0" bIns="0" rtlCol="0" anchor="ctr"/>
          <a:lstStyle/>
          <a:p>
            <a:pPr algn="ctr" indent="0" marL="0">
              <a:buNone/>
            </a:pPr>
            <a:r>
              <a:rPr lang="en-US" sz="1100" dirty="0">
                <a:solidFill>
                  <a:schemeClr val="accent5"/>
                </a:solidFill>
              </a:rPr>
              <a:t>Web browser</a:t>
            </a:r>
            <a:endParaRPr lang="en-US" sz="1100" dirty="0"/>
          </a:p>
        </p:txBody>
      </p:sp>
      <p:sp>
        <p:nvSpPr>
          <p:cNvPr id="8" name="Arrow"/>
          <p:cNvSpPr/>
          <p:nvPr/>
        </p:nvSpPr>
        <p:spPr>
          <a:xfrm>
            <a:off x="2249424" y="1353312"/>
            <a:ext cx="320040" cy="219456"/>
          </a:xfrm>
          <a:prstGeom prst="rightArrow">
            <a:avLst/>
          </a:prstGeom>
          <a:solidFill>
            <a:schemeClr val="accent1"/>
          </a:solidFill>
          <a:ln w="12700">
            <a:solidFill>
              <a:schemeClr val="accent1"/>
            </a:solidFill>
            <a:prstDash val="solid"/>
          </a:ln>
        </p:spPr>
      </p:sp>
      <p:sp>
        <p:nvSpPr>
          <p:cNvPr id="9" name="Layer Web Interface"/>
          <p:cNvSpPr/>
          <p:nvPr/>
        </p:nvSpPr>
        <p:spPr>
          <a:xfrm>
            <a:off x="2624328" y="1005840"/>
            <a:ext cx="1737360" cy="914400"/>
          </a:xfrm>
          <a:prstGeom prst="roundRect">
            <a:avLst>
              <a:gd name="adj" fmla="val 8000"/>
            </a:avLst>
          </a:prstGeom>
          <a:solidFill>
            <a:schemeClr val="bg2"/>
          </a:solidFill>
          <a:ln w="12700">
            <a:solidFill>
              <a:schemeClr val="bg2"/>
            </a:solidFill>
            <a:prstDash val="solid"/>
          </a:ln>
        </p:spPr>
      </p:sp>
      <p:sp>
        <p:nvSpPr>
          <p:cNvPr id="10" name="Number 2"/>
          <p:cNvSpPr txBox="1"/>
          <p:nvPr/>
        </p:nvSpPr>
        <p:spPr>
          <a:xfrm>
            <a:off x="2734056" y="1097280"/>
            <a:ext cx="274320" cy="274320"/>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1" name="Text 8"/>
          <p:cNvSpPr txBox="1"/>
          <p:nvPr/>
        </p:nvSpPr>
        <p:spPr>
          <a:xfrm>
            <a:off x="2715768" y="1371600"/>
            <a:ext cx="1554480" cy="256032"/>
          </a:xfrm>
          <a:prstGeom prst="rect">
            <a:avLst/>
          </a:prstGeom>
          <a:noFill/>
          <a:ln/>
        </p:spPr>
        <p:txBody>
          <a:bodyPr wrap="square" lIns="0" tIns="0" rIns="0" bIns="0" rtlCol="0" anchor="ctr"/>
          <a:lstStyle/>
          <a:p>
            <a:pPr algn="ctr" indent="0" marL="0">
              <a:buNone/>
            </a:pPr>
            <a:r>
              <a:rPr lang="en-US" sz="1400" b="1" dirty="0">
                <a:solidFill>
                  <a:schemeClr val="tx2"/>
                </a:solidFill>
              </a:rPr>
              <a:t>Web Interface</a:t>
            </a:r>
            <a:endParaRPr lang="en-US" sz="1400" dirty="0"/>
          </a:p>
        </p:txBody>
      </p:sp>
      <p:sp>
        <p:nvSpPr>
          <p:cNvPr id="12" name="Text 9"/>
          <p:cNvSpPr txBox="1"/>
          <p:nvPr/>
        </p:nvSpPr>
        <p:spPr>
          <a:xfrm>
            <a:off x="2715768" y="1627632"/>
            <a:ext cx="1554480" cy="228600"/>
          </a:xfrm>
          <a:prstGeom prst="rect">
            <a:avLst/>
          </a:prstGeom>
          <a:noFill/>
          <a:ln/>
        </p:spPr>
        <p:txBody>
          <a:bodyPr wrap="square" lIns="0" tIns="0" rIns="0" bIns="0" rtlCol="0" anchor="ctr"/>
          <a:lstStyle/>
          <a:p>
            <a:pPr algn="ctr" indent="0" marL="0">
              <a:buNone/>
            </a:pPr>
            <a:r>
              <a:rPr lang="en-US" sz="1100" dirty="0">
                <a:solidFill>
                  <a:schemeClr val="accent5"/>
                </a:solidFill>
              </a:rPr>
              <a:t>HTML, CSS, JavaScript</a:t>
            </a:r>
            <a:endParaRPr lang="en-US" sz="1100" dirty="0"/>
          </a:p>
        </p:txBody>
      </p:sp>
      <p:sp>
        <p:nvSpPr>
          <p:cNvPr id="13" name="Arrow"/>
          <p:cNvSpPr/>
          <p:nvPr/>
        </p:nvSpPr>
        <p:spPr>
          <a:xfrm>
            <a:off x="4416552" y="1353312"/>
            <a:ext cx="320040" cy="219456"/>
          </a:xfrm>
          <a:prstGeom prst="rightArrow">
            <a:avLst/>
          </a:prstGeom>
          <a:solidFill>
            <a:schemeClr val="accent1"/>
          </a:solidFill>
          <a:ln w="12700">
            <a:solidFill>
              <a:schemeClr val="accent1"/>
            </a:solidFill>
            <a:prstDash val="solid"/>
          </a:ln>
        </p:spPr>
      </p:sp>
      <p:sp>
        <p:nvSpPr>
          <p:cNvPr id="14" name="Layer Server"/>
          <p:cNvSpPr/>
          <p:nvPr/>
        </p:nvSpPr>
        <p:spPr>
          <a:xfrm>
            <a:off x="4791456" y="1005840"/>
            <a:ext cx="1737360" cy="914400"/>
          </a:xfrm>
          <a:prstGeom prst="roundRect">
            <a:avLst>
              <a:gd name="adj" fmla="val 8000"/>
            </a:avLst>
          </a:prstGeom>
          <a:solidFill>
            <a:schemeClr val="bg2"/>
          </a:solidFill>
          <a:ln w="12700">
            <a:solidFill>
              <a:schemeClr val="bg2"/>
            </a:solidFill>
            <a:prstDash val="solid"/>
          </a:ln>
        </p:spPr>
      </p:sp>
      <p:sp>
        <p:nvSpPr>
          <p:cNvPr id="15" name="Number 3"/>
          <p:cNvSpPr txBox="1"/>
          <p:nvPr/>
        </p:nvSpPr>
        <p:spPr>
          <a:xfrm>
            <a:off x="4901184" y="1097280"/>
            <a:ext cx="274320" cy="274320"/>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4882896" y="1371600"/>
            <a:ext cx="1554480" cy="256032"/>
          </a:xfrm>
          <a:prstGeom prst="rect">
            <a:avLst/>
          </a:prstGeom>
          <a:noFill/>
          <a:ln/>
        </p:spPr>
        <p:txBody>
          <a:bodyPr wrap="square" lIns="0" tIns="0" rIns="0" bIns="0" rtlCol="0" anchor="ctr"/>
          <a:lstStyle/>
          <a:p>
            <a:pPr algn="ctr" indent="0" marL="0">
              <a:buNone/>
            </a:pPr>
            <a:r>
              <a:rPr lang="en-US" sz="1400" b="1" dirty="0">
                <a:solidFill>
                  <a:schemeClr val="tx2"/>
                </a:solidFill>
              </a:rPr>
              <a:t>Server</a:t>
            </a:r>
            <a:endParaRPr lang="en-US" sz="1400" dirty="0"/>
          </a:p>
        </p:txBody>
      </p:sp>
      <p:sp>
        <p:nvSpPr>
          <p:cNvPr id="17" name="Text 14"/>
          <p:cNvSpPr txBox="1"/>
          <p:nvPr/>
        </p:nvSpPr>
        <p:spPr>
          <a:xfrm>
            <a:off x="4882896" y="1627632"/>
            <a:ext cx="1554480" cy="228600"/>
          </a:xfrm>
          <a:prstGeom prst="rect">
            <a:avLst/>
          </a:prstGeom>
          <a:noFill/>
          <a:ln/>
        </p:spPr>
        <p:txBody>
          <a:bodyPr wrap="square" lIns="0" tIns="0" rIns="0" bIns="0" rtlCol="0" anchor="ctr"/>
          <a:lstStyle/>
          <a:p>
            <a:pPr algn="ctr" indent="0" marL="0">
              <a:buNone/>
            </a:pPr>
            <a:r>
              <a:rPr lang="en-US" sz="1100" dirty="0">
                <a:solidFill>
                  <a:schemeClr val="accent5"/>
                </a:solidFill>
              </a:rPr>
              <a:t>Node.js + Express.js</a:t>
            </a:r>
            <a:endParaRPr lang="en-US" sz="1100" dirty="0"/>
          </a:p>
        </p:txBody>
      </p:sp>
      <p:sp>
        <p:nvSpPr>
          <p:cNvPr id="18" name="Arrow"/>
          <p:cNvSpPr/>
          <p:nvPr/>
        </p:nvSpPr>
        <p:spPr>
          <a:xfrm>
            <a:off x="6583680" y="1353312"/>
            <a:ext cx="320040" cy="219456"/>
          </a:xfrm>
          <a:prstGeom prst="rightArrow">
            <a:avLst/>
          </a:prstGeom>
          <a:solidFill>
            <a:schemeClr val="accent1"/>
          </a:solidFill>
          <a:ln w="12700">
            <a:solidFill>
              <a:schemeClr val="accent1"/>
            </a:solidFill>
            <a:prstDash val="solid"/>
          </a:ln>
        </p:spPr>
      </p:sp>
      <p:sp>
        <p:nvSpPr>
          <p:cNvPr id="19" name="Layer Database"/>
          <p:cNvSpPr/>
          <p:nvPr/>
        </p:nvSpPr>
        <p:spPr>
          <a:xfrm>
            <a:off x="6958584" y="1005840"/>
            <a:ext cx="1737360" cy="914400"/>
          </a:xfrm>
          <a:prstGeom prst="roundRect">
            <a:avLst>
              <a:gd name="adj" fmla="val 8000"/>
            </a:avLst>
          </a:prstGeom>
          <a:solidFill>
            <a:schemeClr val="bg2"/>
          </a:solidFill>
          <a:ln w="12700">
            <a:solidFill>
              <a:schemeClr val="bg2"/>
            </a:solidFill>
            <a:prstDash val="solid"/>
          </a:ln>
        </p:spPr>
      </p:sp>
      <p:sp>
        <p:nvSpPr>
          <p:cNvPr id="20" name="Number 4"/>
          <p:cNvSpPr txBox="1"/>
          <p:nvPr/>
        </p:nvSpPr>
        <p:spPr>
          <a:xfrm>
            <a:off x="7068312" y="1097280"/>
            <a:ext cx="274320" cy="274320"/>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1" name="Text 18"/>
          <p:cNvSpPr txBox="1"/>
          <p:nvPr/>
        </p:nvSpPr>
        <p:spPr>
          <a:xfrm>
            <a:off x="7050024" y="1371600"/>
            <a:ext cx="1554480" cy="256032"/>
          </a:xfrm>
          <a:prstGeom prst="rect">
            <a:avLst/>
          </a:prstGeom>
          <a:noFill/>
          <a:ln/>
        </p:spPr>
        <p:txBody>
          <a:bodyPr wrap="square" lIns="0" tIns="0" rIns="0" bIns="0" rtlCol="0" anchor="ctr"/>
          <a:lstStyle/>
          <a:p>
            <a:pPr algn="ctr" indent="0" marL="0">
              <a:buNone/>
            </a:pPr>
            <a:r>
              <a:rPr lang="en-US" sz="1400" b="1" dirty="0">
                <a:solidFill>
                  <a:schemeClr val="tx2"/>
                </a:solidFill>
              </a:rPr>
              <a:t>Database</a:t>
            </a:r>
            <a:endParaRPr lang="en-US" sz="1400" dirty="0"/>
          </a:p>
        </p:txBody>
      </p:sp>
      <p:sp>
        <p:nvSpPr>
          <p:cNvPr id="22" name="Text 19"/>
          <p:cNvSpPr txBox="1"/>
          <p:nvPr/>
        </p:nvSpPr>
        <p:spPr>
          <a:xfrm>
            <a:off x="7050024" y="1627632"/>
            <a:ext cx="1554480" cy="228600"/>
          </a:xfrm>
          <a:prstGeom prst="rect">
            <a:avLst/>
          </a:prstGeom>
          <a:noFill/>
          <a:ln/>
        </p:spPr>
        <p:txBody>
          <a:bodyPr wrap="square" lIns="0" tIns="0" rIns="0" bIns="0" rtlCol="0" anchor="ctr"/>
          <a:lstStyle/>
          <a:p>
            <a:pPr algn="ctr" indent="0" marL="0">
              <a:buNone/>
            </a:pPr>
            <a:r>
              <a:rPr lang="en-US" sz="1100" dirty="0">
                <a:solidFill>
                  <a:schemeClr val="accent5"/>
                </a:solidFill>
              </a:rPr>
              <a:t>MySQL (mysql2)</a:t>
            </a:r>
            <a:endParaRPr lang="en-US" sz="1100" dirty="0"/>
          </a:p>
        </p:txBody>
      </p:sp>
      <p:sp>
        <p:nvSpPr>
          <p:cNvPr id="23" name="Detail Frontend"/>
          <p:cNvSpPr/>
          <p:nvPr/>
        </p:nvSpPr>
        <p:spPr>
          <a:xfrm>
            <a:off x="457200" y="2103120"/>
            <a:ext cx="2651760" cy="1600200"/>
          </a:xfrm>
          <a:prstGeom prst="roundRect">
            <a:avLst>
              <a:gd name="adj" fmla="val 4571"/>
            </a:avLst>
          </a:prstGeom>
          <a:solidFill>
            <a:schemeClr val="tx2"/>
          </a:solidFill>
          <a:ln w="12700">
            <a:solidFill>
              <a:schemeClr val="tx2"/>
            </a:solidFill>
            <a:prstDash val="solid"/>
          </a:ln>
        </p:spPr>
      </p:sp>
      <p:sp>
        <p:nvSpPr>
          <p:cNvPr id="24" name="Text 21"/>
          <p:cNvSpPr txBox="1"/>
          <p:nvPr/>
        </p:nvSpPr>
        <p:spPr>
          <a:xfrm>
            <a:off x="640080" y="2194560"/>
            <a:ext cx="2286000" cy="320040"/>
          </a:xfrm>
          <a:prstGeom prst="rect">
            <a:avLst/>
          </a:prstGeom>
          <a:noFill/>
          <a:ln/>
        </p:spPr>
        <p:txBody>
          <a:bodyPr wrap="square" lIns="0" tIns="0" rIns="0" bIns="0" rtlCol="0" anchor="ctr"/>
          <a:lstStyle/>
          <a:p>
            <a:pPr indent="0" marL="0">
              <a:buNone/>
            </a:pPr>
            <a:r>
              <a:rPr lang="en-US" sz="1600" b="1" dirty="0">
                <a:solidFill>
                  <a:schemeClr val="accent6"/>
                </a:solidFill>
                <a:latin typeface="Cambria" pitchFamily="34" charset="0"/>
                <a:ea typeface="Cambria" pitchFamily="34" charset="-122"/>
                <a:cs typeface="Cambria" pitchFamily="34" charset="-120"/>
              </a:rPr>
              <a:t>Frontend</a:t>
            </a:r>
            <a:endParaRPr lang="en-US" sz="1600" dirty="0"/>
          </a:p>
        </p:txBody>
      </p:sp>
      <p:sp>
        <p:nvSpPr>
          <p:cNvPr id="25" name="Text 22"/>
          <p:cNvSpPr txBox="1"/>
          <p:nvPr/>
        </p:nvSpPr>
        <p:spPr>
          <a:xfrm>
            <a:off x="640080" y="2542032"/>
            <a:ext cx="2286000" cy="1097280"/>
          </a:xfrm>
          <a:prstGeom prst="rect">
            <a:avLst/>
          </a:prstGeom>
          <a:noFill/>
          <a:ln/>
        </p:spPr>
        <p:txBody>
          <a:bodyPr wrap="square" lIns="0" tIns="0" rIns="0" bIns="0" rtlCol="0" anchor="t"/>
          <a:lstStyle/>
          <a:p>
            <a:pPr indent="0" marL="0">
              <a:buNone/>
            </a:pPr>
            <a:r>
              <a:rPr lang="en-US" sz="1300" dirty="0">
                <a:solidFill>
                  <a:schemeClr val="bg1"/>
                </a:solidFill>
              </a:rPr>
              <a:t>Forms for login, search, seat selection, passenger details and payment; responsive layout.</a:t>
            </a:r>
            <a:endParaRPr lang="en-US" sz="1300" dirty="0"/>
          </a:p>
        </p:txBody>
      </p:sp>
      <p:sp>
        <p:nvSpPr>
          <p:cNvPr id="26" name="Detail Backend"/>
          <p:cNvSpPr/>
          <p:nvPr/>
        </p:nvSpPr>
        <p:spPr>
          <a:xfrm>
            <a:off x="3246120" y="2103120"/>
            <a:ext cx="2651760" cy="1600200"/>
          </a:xfrm>
          <a:prstGeom prst="roundRect">
            <a:avLst>
              <a:gd name="adj" fmla="val 4571"/>
            </a:avLst>
          </a:prstGeom>
          <a:solidFill>
            <a:schemeClr val="tx2"/>
          </a:solidFill>
          <a:ln w="12700">
            <a:solidFill>
              <a:schemeClr val="tx2"/>
            </a:solidFill>
            <a:prstDash val="solid"/>
          </a:ln>
        </p:spPr>
      </p:sp>
      <p:sp>
        <p:nvSpPr>
          <p:cNvPr id="27" name="Text 24"/>
          <p:cNvSpPr txBox="1"/>
          <p:nvPr/>
        </p:nvSpPr>
        <p:spPr>
          <a:xfrm>
            <a:off x="3429000" y="2194560"/>
            <a:ext cx="2286000" cy="320040"/>
          </a:xfrm>
          <a:prstGeom prst="rect">
            <a:avLst/>
          </a:prstGeom>
          <a:noFill/>
          <a:ln/>
        </p:spPr>
        <p:txBody>
          <a:bodyPr wrap="square" lIns="0" tIns="0" rIns="0" bIns="0" rtlCol="0" anchor="ctr"/>
          <a:lstStyle/>
          <a:p>
            <a:pPr indent="0" marL="0">
              <a:buNone/>
            </a:pPr>
            <a:r>
              <a:rPr lang="en-US" sz="1600" b="1" dirty="0">
                <a:solidFill>
                  <a:schemeClr val="accent6"/>
                </a:solidFill>
                <a:latin typeface="Cambria" pitchFamily="34" charset="0"/>
                <a:ea typeface="Cambria" pitchFamily="34" charset="-122"/>
                <a:cs typeface="Cambria" pitchFamily="34" charset="-120"/>
              </a:rPr>
              <a:t>Backend</a:t>
            </a:r>
            <a:endParaRPr lang="en-US" sz="1600" dirty="0"/>
          </a:p>
        </p:txBody>
      </p:sp>
      <p:sp>
        <p:nvSpPr>
          <p:cNvPr id="28" name="Text 25"/>
          <p:cNvSpPr txBox="1"/>
          <p:nvPr/>
        </p:nvSpPr>
        <p:spPr>
          <a:xfrm>
            <a:off x="3429000" y="2542032"/>
            <a:ext cx="2286000" cy="1097280"/>
          </a:xfrm>
          <a:prstGeom prst="rect">
            <a:avLst/>
          </a:prstGeom>
          <a:noFill/>
          <a:ln/>
        </p:spPr>
        <p:txBody>
          <a:bodyPr wrap="square" lIns="0" tIns="0" rIns="0" bIns="0" rtlCol="0" anchor="t"/>
          <a:lstStyle/>
          <a:p>
            <a:pPr indent="0" marL="0">
              <a:buNone/>
            </a:pPr>
            <a:r>
              <a:rPr lang="en-US" sz="1300" dirty="0">
                <a:solidFill>
                  <a:schemeClr val="bg1"/>
                </a:solidFill>
              </a:rPr>
              <a:t>Routes /login, /search, /book, /payment, /cancel; validation, fare calculation and PNR logic.</a:t>
            </a:r>
            <a:endParaRPr lang="en-US" sz="1300" dirty="0"/>
          </a:p>
        </p:txBody>
      </p:sp>
      <p:sp>
        <p:nvSpPr>
          <p:cNvPr id="29" name="Detail Database"/>
          <p:cNvSpPr/>
          <p:nvPr/>
        </p:nvSpPr>
        <p:spPr>
          <a:xfrm>
            <a:off x="6035040" y="2103120"/>
            <a:ext cx="2651760" cy="1600200"/>
          </a:xfrm>
          <a:prstGeom prst="roundRect">
            <a:avLst>
              <a:gd name="adj" fmla="val 4571"/>
            </a:avLst>
          </a:prstGeom>
          <a:solidFill>
            <a:schemeClr val="tx2"/>
          </a:solidFill>
          <a:ln w="12700">
            <a:solidFill>
              <a:schemeClr val="tx2"/>
            </a:solidFill>
            <a:prstDash val="solid"/>
          </a:ln>
        </p:spPr>
      </p:sp>
      <p:sp>
        <p:nvSpPr>
          <p:cNvPr id="30" name="Text 27"/>
          <p:cNvSpPr txBox="1"/>
          <p:nvPr/>
        </p:nvSpPr>
        <p:spPr>
          <a:xfrm>
            <a:off x="6217920" y="2194560"/>
            <a:ext cx="2286000" cy="320040"/>
          </a:xfrm>
          <a:prstGeom prst="rect">
            <a:avLst/>
          </a:prstGeom>
          <a:noFill/>
          <a:ln/>
        </p:spPr>
        <p:txBody>
          <a:bodyPr wrap="square" lIns="0" tIns="0" rIns="0" bIns="0" rtlCol="0" anchor="ctr"/>
          <a:lstStyle/>
          <a:p>
            <a:pPr indent="0" marL="0">
              <a:buNone/>
            </a:pPr>
            <a:r>
              <a:rPr lang="en-US" sz="1600" b="1" dirty="0">
                <a:solidFill>
                  <a:schemeClr val="accent6"/>
                </a:solidFill>
                <a:latin typeface="Cambria" pitchFamily="34" charset="0"/>
                <a:ea typeface="Cambria" pitchFamily="34" charset="-122"/>
                <a:cs typeface="Cambria" pitchFamily="34" charset="-120"/>
              </a:rPr>
              <a:t>Database</a:t>
            </a:r>
            <a:endParaRPr lang="en-US" sz="1600" dirty="0"/>
          </a:p>
        </p:txBody>
      </p:sp>
      <p:sp>
        <p:nvSpPr>
          <p:cNvPr id="31" name="Text 28"/>
          <p:cNvSpPr txBox="1"/>
          <p:nvPr/>
        </p:nvSpPr>
        <p:spPr>
          <a:xfrm>
            <a:off x="6217920" y="2542032"/>
            <a:ext cx="2286000" cy="1097280"/>
          </a:xfrm>
          <a:prstGeom prst="rect">
            <a:avLst/>
          </a:prstGeom>
          <a:noFill/>
          <a:ln/>
        </p:spPr>
        <p:txBody>
          <a:bodyPr wrap="square" lIns="0" tIns="0" rIns="0" bIns="0" rtlCol="0" anchor="t"/>
          <a:lstStyle/>
          <a:p>
            <a:pPr indent="0" marL="0">
              <a:buNone/>
            </a:pPr>
            <a:r>
              <a:rPr lang="en-US" sz="1300" dirty="0">
                <a:solidFill>
                  <a:schemeClr val="bg1"/>
                </a:solidFill>
              </a:rPr>
              <a:t>Tables for users, trains (source, destination, date, seats), bookings and payments.</a:t>
            </a:r>
            <a:endParaRPr lang="en-US" sz="1300" dirty="0"/>
          </a:p>
        </p:txBody>
      </p:sp>
      <p:sp>
        <p:nvSpPr>
          <p:cNvPr id="32" name="Banner"/>
          <p:cNvSpPr/>
          <p:nvPr/>
        </p:nvSpPr>
        <p:spPr>
          <a:xfrm>
            <a:off x="457200" y="3886200"/>
            <a:ext cx="8229600" cy="594360"/>
          </a:xfrm>
          <a:prstGeom prst="roundRect">
            <a:avLst>
              <a:gd name="adj" fmla="val 12308"/>
            </a:avLst>
          </a:prstGeom>
          <a:solidFill>
            <a:schemeClr val="accent1"/>
          </a:solidFill>
          <a:ln w="12700">
            <a:solidFill>
              <a:schemeClr val="accent1"/>
            </a:solidFill>
            <a:prstDash val="solid"/>
          </a:ln>
        </p:spPr>
      </p:sp>
      <p:sp>
        <p:nvSpPr>
          <p:cNvPr id="33" name="Banner text"/>
          <p:cNvSpPr txBox="1"/>
          <p:nvPr/>
        </p:nvSpPr>
        <p:spPr>
          <a:xfrm>
            <a:off x="640080" y="3886200"/>
            <a:ext cx="7863840" cy="594360"/>
          </a:xfrm>
          <a:prstGeom prst="rect">
            <a:avLst/>
          </a:prstGeom>
          <a:noFill/>
          <a:ln/>
        </p:spPr>
        <p:txBody>
          <a:bodyPr wrap="square" lIns="0" tIns="0" rIns="0" bIns="0" rtlCol="0" anchor="ctr"/>
          <a:lstStyle/>
          <a:p>
            <a:pPr indent="0" marL="0">
              <a:buNone/>
            </a:pPr>
            <a:r>
              <a:rPr lang="en-US" sz="1300" b="1" dirty="0">
                <a:solidFill>
                  <a:schemeClr val="bg1"/>
                </a:solidFill>
              </a:rPr>
              <a:t>Example: </a:t>
            </a:r>
            <a:pPr indent="0" marL="0">
              <a:buNone/>
            </a:pPr>
            <a:r>
              <a:rPr lang="en-US" sz="1300" dirty="0">
                <a:solidFill>
                  <a:schemeClr val="bg1"/>
                </a:solidFill>
              </a:rPr>
              <a:t>search form → POST /search → SELECT from trains → matching trains returned to the passenger.</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28600"/>
            <a:ext cx="8229600" cy="59436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Technologies Used</a:t>
            </a:r>
            <a:endParaRPr lang="en-US" sz="2600" dirty="0"/>
          </a:p>
        </p:txBody>
      </p:sp>
      <p:sp>
        <p:nvSpPr>
          <p:cNvPr id="4" name="Tool HTML"/>
          <p:cNvSpPr/>
          <p:nvPr/>
        </p:nvSpPr>
        <p:spPr>
          <a:xfrm>
            <a:off x="457200" y="1005840"/>
            <a:ext cx="1783080" cy="1371600"/>
          </a:xfrm>
          <a:prstGeom prst="roundRect">
            <a:avLst>
              <a:gd name="adj" fmla="val 5333"/>
            </a:avLst>
          </a:prstGeom>
          <a:solidFill>
            <a:schemeClr val="bg2"/>
          </a:solidFill>
          <a:ln w="12700">
            <a:solidFill>
              <a:schemeClr val="bg2"/>
            </a:solidFill>
            <a:prstDash val="solid"/>
          </a:ln>
        </p:spPr>
      </p:sp>
      <p:sp>
        <p:nvSpPr>
          <p:cNvPr id="5" name="Text 2"/>
          <p:cNvSpPr txBox="1"/>
          <p:nvPr/>
        </p:nvSpPr>
        <p:spPr>
          <a:xfrm>
            <a:off x="594360" y="1234440"/>
            <a:ext cx="1554480" cy="365760"/>
          </a:xfrm>
          <a:prstGeom prst="rect">
            <a:avLst/>
          </a:prstGeom>
          <a:noFill/>
          <a:ln/>
        </p:spPr>
        <p:txBody>
          <a:bodyPr wrap="square" lIns="0" tIns="0" rIns="0" bIns="0" rtlCol="0" anchor="ctr"/>
          <a:lstStyle/>
          <a:p>
            <a:pPr indent="0" marL="0">
              <a:buNone/>
            </a:pPr>
            <a:r>
              <a:rPr lang="en-US" sz="1700" b="1" dirty="0">
                <a:solidFill>
                  <a:schemeClr val="accent1"/>
                </a:solidFill>
                <a:latin typeface="Cambria" pitchFamily="34" charset="0"/>
                <a:ea typeface="Cambria" pitchFamily="34" charset="-122"/>
                <a:cs typeface="Cambria" pitchFamily="34" charset="-120"/>
              </a:rPr>
              <a:t>HTML</a:t>
            </a:r>
            <a:endParaRPr lang="en-US" sz="1700" dirty="0"/>
          </a:p>
        </p:txBody>
      </p:sp>
      <p:sp>
        <p:nvSpPr>
          <p:cNvPr id="6" name="Text 3"/>
          <p:cNvSpPr txBox="1"/>
          <p:nvPr/>
        </p:nvSpPr>
        <p:spPr>
          <a:xfrm>
            <a:off x="594360" y="1691640"/>
            <a:ext cx="1554480" cy="502920"/>
          </a:xfrm>
          <a:prstGeom prst="rect">
            <a:avLst/>
          </a:prstGeom>
          <a:noFill/>
          <a:ln/>
        </p:spPr>
        <p:txBody>
          <a:bodyPr wrap="square" lIns="0" tIns="0" rIns="0" bIns="0" rtlCol="0" anchor="t"/>
          <a:lstStyle/>
          <a:p>
            <a:pPr indent="0" marL="0">
              <a:buNone/>
            </a:pPr>
            <a:r>
              <a:rPr lang="en-US" sz="1200" dirty="0">
                <a:solidFill>
                  <a:schemeClr val="tx1"/>
                </a:solidFill>
              </a:rPr>
              <a:t>Page structure, forms</a:t>
            </a:r>
            <a:endParaRPr lang="en-US" sz="1200" dirty="0"/>
          </a:p>
        </p:txBody>
      </p:sp>
      <p:sp>
        <p:nvSpPr>
          <p:cNvPr id="7" name="Tool CSS"/>
          <p:cNvSpPr/>
          <p:nvPr/>
        </p:nvSpPr>
        <p:spPr>
          <a:xfrm>
            <a:off x="2350008" y="1005840"/>
            <a:ext cx="1783080" cy="1371600"/>
          </a:xfrm>
          <a:prstGeom prst="roundRect">
            <a:avLst>
              <a:gd name="adj" fmla="val 5333"/>
            </a:avLst>
          </a:prstGeom>
          <a:solidFill>
            <a:schemeClr val="bg2"/>
          </a:solidFill>
          <a:ln w="12700">
            <a:solidFill>
              <a:schemeClr val="bg2"/>
            </a:solidFill>
            <a:prstDash val="solid"/>
          </a:ln>
        </p:spPr>
      </p:sp>
      <p:sp>
        <p:nvSpPr>
          <p:cNvPr id="8" name="Text 5"/>
          <p:cNvSpPr txBox="1"/>
          <p:nvPr/>
        </p:nvSpPr>
        <p:spPr>
          <a:xfrm>
            <a:off x="2487168" y="1234440"/>
            <a:ext cx="1554480" cy="365760"/>
          </a:xfrm>
          <a:prstGeom prst="rect">
            <a:avLst/>
          </a:prstGeom>
          <a:noFill/>
          <a:ln/>
        </p:spPr>
        <p:txBody>
          <a:bodyPr wrap="square" lIns="0" tIns="0" rIns="0" bIns="0" rtlCol="0" anchor="ctr"/>
          <a:lstStyle/>
          <a:p>
            <a:pPr indent="0" marL="0">
              <a:buNone/>
            </a:pPr>
            <a:r>
              <a:rPr lang="en-US" sz="1700" b="1" dirty="0">
                <a:solidFill>
                  <a:schemeClr val="accent1"/>
                </a:solidFill>
                <a:latin typeface="Cambria" pitchFamily="34" charset="0"/>
                <a:ea typeface="Cambria" pitchFamily="34" charset="-122"/>
                <a:cs typeface="Cambria" pitchFamily="34" charset="-120"/>
              </a:rPr>
              <a:t>CSS</a:t>
            </a:r>
            <a:endParaRPr lang="en-US" sz="1700" dirty="0"/>
          </a:p>
        </p:txBody>
      </p:sp>
      <p:sp>
        <p:nvSpPr>
          <p:cNvPr id="9" name="Text 6"/>
          <p:cNvSpPr txBox="1"/>
          <p:nvPr/>
        </p:nvSpPr>
        <p:spPr>
          <a:xfrm>
            <a:off x="2487168" y="1691640"/>
            <a:ext cx="1554480" cy="502920"/>
          </a:xfrm>
          <a:prstGeom prst="rect">
            <a:avLst/>
          </a:prstGeom>
          <a:noFill/>
          <a:ln/>
        </p:spPr>
        <p:txBody>
          <a:bodyPr wrap="square" lIns="0" tIns="0" rIns="0" bIns="0" rtlCol="0" anchor="t"/>
          <a:lstStyle/>
          <a:p>
            <a:pPr indent="0" marL="0">
              <a:buNone/>
            </a:pPr>
            <a:r>
              <a:rPr lang="en-US" sz="1200" dirty="0">
                <a:solidFill>
                  <a:schemeClr val="tx1"/>
                </a:solidFill>
              </a:rPr>
              <a:t>Styling, responsive layout</a:t>
            </a:r>
            <a:endParaRPr lang="en-US" sz="1200" dirty="0"/>
          </a:p>
        </p:txBody>
      </p:sp>
      <p:sp>
        <p:nvSpPr>
          <p:cNvPr id="10" name="Tool JavaScript"/>
          <p:cNvSpPr/>
          <p:nvPr/>
        </p:nvSpPr>
        <p:spPr>
          <a:xfrm>
            <a:off x="4242816" y="1005840"/>
            <a:ext cx="1783080" cy="1371600"/>
          </a:xfrm>
          <a:prstGeom prst="roundRect">
            <a:avLst>
              <a:gd name="adj" fmla="val 5333"/>
            </a:avLst>
          </a:prstGeom>
          <a:solidFill>
            <a:schemeClr val="bg2"/>
          </a:solidFill>
          <a:ln w="12700">
            <a:solidFill>
              <a:schemeClr val="bg2"/>
            </a:solidFill>
            <a:prstDash val="solid"/>
          </a:ln>
        </p:spPr>
      </p:sp>
      <p:sp>
        <p:nvSpPr>
          <p:cNvPr id="11" name="Text 8"/>
          <p:cNvSpPr txBox="1"/>
          <p:nvPr/>
        </p:nvSpPr>
        <p:spPr>
          <a:xfrm>
            <a:off x="4379976" y="1234440"/>
            <a:ext cx="1554480" cy="365760"/>
          </a:xfrm>
          <a:prstGeom prst="rect">
            <a:avLst/>
          </a:prstGeom>
          <a:noFill/>
          <a:ln/>
        </p:spPr>
        <p:txBody>
          <a:bodyPr wrap="square" lIns="0" tIns="0" rIns="0" bIns="0" rtlCol="0" anchor="ctr"/>
          <a:lstStyle/>
          <a:p>
            <a:pPr indent="0" marL="0">
              <a:buNone/>
            </a:pPr>
            <a:r>
              <a:rPr lang="en-US" sz="1700" b="1" dirty="0">
                <a:solidFill>
                  <a:schemeClr val="accent1"/>
                </a:solidFill>
                <a:latin typeface="Cambria" pitchFamily="34" charset="0"/>
                <a:ea typeface="Cambria" pitchFamily="34" charset="-122"/>
                <a:cs typeface="Cambria" pitchFamily="34" charset="-120"/>
              </a:rPr>
              <a:t>JavaScript</a:t>
            </a:r>
            <a:endParaRPr lang="en-US" sz="1700" dirty="0"/>
          </a:p>
        </p:txBody>
      </p:sp>
      <p:sp>
        <p:nvSpPr>
          <p:cNvPr id="12" name="Text 9"/>
          <p:cNvSpPr txBox="1"/>
          <p:nvPr/>
        </p:nvSpPr>
        <p:spPr>
          <a:xfrm>
            <a:off x="4379976" y="1691640"/>
            <a:ext cx="1554480" cy="502920"/>
          </a:xfrm>
          <a:prstGeom prst="rect">
            <a:avLst/>
          </a:prstGeom>
          <a:noFill/>
          <a:ln/>
        </p:spPr>
        <p:txBody>
          <a:bodyPr wrap="square" lIns="0" tIns="0" rIns="0" bIns="0" rtlCol="0" anchor="t"/>
          <a:lstStyle/>
          <a:p>
            <a:pPr indent="0" marL="0">
              <a:buNone/>
            </a:pPr>
            <a:r>
              <a:rPr lang="en-US" sz="1200" dirty="0">
                <a:solidFill>
                  <a:schemeClr val="tx1"/>
                </a:solidFill>
              </a:rPr>
              <a:t>Interactivity, app logic</a:t>
            </a:r>
            <a:endParaRPr lang="en-US" sz="1200" dirty="0"/>
          </a:p>
        </p:txBody>
      </p:sp>
      <p:sp>
        <p:nvSpPr>
          <p:cNvPr id="13" name="Tool Node.js"/>
          <p:cNvSpPr/>
          <p:nvPr/>
        </p:nvSpPr>
        <p:spPr>
          <a:xfrm>
            <a:off x="457200" y="2514600"/>
            <a:ext cx="1783080" cy="1371600"/>
          </a:xfrm>
          <a:prstGeom prst="roundRect">
            <a:avLst>
              <a:gd name="adj" fmla="val 5333"/>
            </a:avLst>
          </a:prstGeom>
          <a:solidFill>
            <a:schemeClr val="bg2"/>
          </a:solidFill>
          <a:ln w="12700">
            <a:solidFill>
              <a:schemeClr val="bg2"/>
            </a:solidFill>
            <a:prstDash val="solid"/>
          </a:ln>
        </p:spPr>
      </p:sp>
      <p:sp>
        <p:nvSpPr>
          <p:cNvPr id="14" name="Text 11"/>
          <p:cNvSpPr txBox="1"/>
          <p:nvPr/>
        </p:nvSpPr>
        <p:spPr>
          <a:xfrm>
            <a:off x="594360" y="2743200"/>
            <a:ext cx="1554480" cy="365760"/>
          </a:xfrm>
          <a:prstGeom prst="rect">
            <a:avLst/>
          </a:prstGeom>
          <a:noFill/>
          <a:ln/>
        </p:spPr>
        <p:txBody>
          <a:bodyPr wrap="square" lIns="0" tIns="0" rIns="0" bIns="0" rtlCol="0" anchor="ctr"/>
          <a:lstStyle/>
          <a:p>
            <a:pPr indent="0" marL="0">
              <a:buNone/>
            </a:pPr>
            <a:r>
              <a:rPr lang="en-US" sz="1700" b="1" dirty="0">
                <a:solidFill>
                  <a:schemeClr val="accent1"/>
                </a:solidFill>
                <a:latin typeface="Cambria" pitchFamily="34" charset="0"/>
                <a:ea typeface="Cambria" pitchFamily="34" charset="-122"/>
                <a:cs typeface="Cambria" pitchFamily="34" charset="-120"/>
              </a:rPr>
              <a:t>Node.js</a:t>
            </a:r>
            <a:endParaRPr lang="en-US" sz="1700" dirty="0"/>
          </a:p>
        </p:txBody>
      </p:sp>
      <p:sp>
        <p:nvSpPr>
          <p:cNvPr id="15" name="Text 12"/>
          <p:cNvSpPr txBox="1"/>
          <p:nvPr/>
        </p:nvSpPr>
        <p:spPr>
          <a:xfrm>
            <a:off x="594360" y="3200400"/>
            <a:ext cx="1554480" cy="502920"/>
          </a:xfrm>
          <a:prstGeom prst="rect">
            <a:avLst/>
          </a:prstGeom>
          <a:noFill/>
          <a:ln/>
        </p:spPr>
        <p:txBody>
          <a:bodyPr wrap="square" lIns="0" tIns="0" rIns="0" bIns="0" rtlCol="0" anchor="t"/>
          <a:lstStyle/>
          <a:p>
            <a:pPr indent="0" marL="0">
              <a:buNone/>
            </a:pPr>
            <a:r>
              <a:rPr lang="en-US" sz="1200" dirty="0">
                <a:solidFill>
                  <a:schemeClr val="tx1"/>
                </a:solidFill>
              </a:rPr>
              <a:t>Server runtime</a:t>
            </a:r>
            <a:endParaRPr lang="en-US" sz="1200" dirty="0"/>
          </a:p>
        </p:txBody>
      </p:sp>
      <p:sp>
        <p:nvSpPr>
          <p:cNvPr id="16" name="Tool Express.js"/>
          <p:cNvSpPr/>
          <p:nvPr/>
        </p:nvSpPr>
        <p:spPr>
          <a:xfrm>
            <a:off x="2350008" y="2514600"/>
            <a:ext cx="1783080" cy="1371600"/>
          </a:xfrm>
          <a:prstGeom prst="roundRect">
            <a:avLst>
              <a:gd name="adj" fmla="val 5333"/>
            </a:avLst>
          </a:prstGeom>
          <a:solidFill>
            <a:schemeClr val="bg2"/>
          </a:solidFill>
          <a:ln w="12700">
            <a:solidFill>
              <a:schemeClr val="bg2"/>
            </a:solidFill>
            <a:prstDash val="solid"/>
          </a:ln>
        </p:spPr>
      </p:sp>
      <p:sp>
        <p:nvSpPr>
          <p:cNvPr id="17" name="Text 14"/>
          <p:cNvSpPr txBox="1"/>
          <p:nvPr/>
        </p:nvSpPr>
        <p:spPr>
          <a:xfrm>
            <a:off x="2487168" y="2743200"/>
            <a:ext cx="1554480" cy="365760"/>
          </a:xfrm>
          <a:prstGeom prst="rect">
            <a:avLst/>
          </a:prstGeom>
          <a:noFill/>
          <a:ln/>
        </p:spPr>
        <p:txBody>
          <a:bodyPr wrap="square" lIns="0" tIns="0" rIns="0" bIns="0" rtlCol="0" anchor="ctr"/>
          <a:lstStyle/>
          <a:p>
            <a:pPr indent="0" marL="0">
              <a:buNone/>
            </a:pPr>
            <a:r>
              <a:rPr lang="en-US" sz="1700" b="1" dirty="0">
                <a:solidFill>
                  <a:schemeClr val="accent1"/>
                </a:solidFill>
                <a:latin typeface="Cambria" pitchFamily="34" charset="0"/>
                <a:ea typeface="Cambria" pitchFamily="34" charset="-122"/>
                <a:cs typeface="Cambria" pitchFamily="34" charset="-120"/>
              </a:rPr>
              <a:t>Express.js</a:t>
            </a:r>
            <a:endParaRPr lang="en-US" sz="1700" dirty="0"/>
          </a:p>
        </p:txBody>
      </p:sp>
      <p:sp>
        <p:nvSpPr>
          <p:cNvPr id="18" name="Text 15"/>
          <p:cNvSpPr txBox="1"/>
          <p:nvPr/>
        </p:nvSpPr>
        <p:spPr>
          <a:xfrm>
            <a:off x="2487168" y="3200400"/>
            <a:ext cx="1554480" cy="502920"/>
          </a:xfrm>
          <a:prstGeom prst="rect">
            <a:avLst/>
          </a:prstGeom>
          <a:noFill/>
          <a:ln/>
        </p:spPr>
        <p:txBody>
          <a:bodyPr wrap="square" lIns="0" tIns="0" rIns="0" bIns="0" rtlCol="0" anchor="t"/>
          <a:lstStyle/>
          <a:p>
            <a:pPr indent="0" marL="0">
              <a:buNone/>
            </a:pPr>
            <a:r>
              <a:rPr lang="en-US" sz="1200" dirty="0">
                <a:solidFill>
                  <a:schemeClr val="tx1"/>
                </a:solidFill>
              </a:rPr>
              <a:t>Routing: app.post, app.get</a:t>
            </a:r>
            <a:endParaRPr lang="en-US" sz="1200" dirty="0"/>
          </a:p>
        </p:txBody>
      </p:sp>
      <p:sp>
        <p:nvSpPr>
          <p:cNvPr id="19" name="Tool MySQL"/>
          <p:cNvSpPr/>
          <p:nvPr/>
        </p:nvSpPr>
        <p:spPr>
          <a:xfrm>
            <a:off x="4242816" y="2514600"/>
            <a:ext cx="1783080" cy="1371600"/>
          </a:xfrm>
          <a:prstGeom prst="roundRect">
            <a:avLst>
              <a:gd name="adj" fmla="val 5333"/>
            </a:avLst>
          </a:prstGeom>
          <a:solidFill>
            <a:schemeClr val="bg2"/>
          </a:solidFill>
          <a:ln w="12700">
            <a:solidFill>
              <a:schemeClr val="bg2"/>
            </a:solidFill>
            <a:prstDash val="solid"/>
          </a:ln>
        </p:spPr>
      </p:sp>
      <p:sp>
        <p:nvSpPr>
          <p:cNvPr id="20" name="Text 17"/>
          <p:cNvSpPr txBox="1"/>
          <p:nvPr/>
        </p:nvSpPr>
        <p:spPr>
          <a:xfrm>
            <a:off x="4379976" y="2743200"/>
            <a:ext cx="1554480" cy="365760"/>
          </a:xfrm>
          <a:prstGeom prst="rect">
            <a:avLst/>
          </a:prstGeom>
          <a:noFill/>
          <a:ln/>
        </p:spPr>
        <p:txBody>
          <a:bodyPr wrap="square" lIns="0" tIns="0" rIns="0" bIns="0" rtlCol="0" anchor="ctr"/>
          <a:lstStyle/>
          <a:p>
            <a:pPr indent="0" marL="0">
              <a:buNone/>
            </a:pPr>
            <a:r>
              <a:rPr lang="en-US" sz="1700" b="1" dirty="0">
                <a:solidFill>
                  <a:schemeClr val="accent1"/>
                </a:solidFill>
                <a:latin typeface="Cambria" pitchFamily="34" charset="0"/>
                <a:ea typeface="Cambria" pitchFamily="34" charset="-122"/>
                <a:cs typeface="Cambria" pitchFamily="34" charset="-120"/>
              </a:rPr>
              <a:t>MySQL</a:t>
            </a:r>
            <a:endParaRPr lang="en-US" sz="1700" dirty="0"/>
          </a:p>
        </p:txBody>
      </p:sp>
      <p:sp>
        <p:nvSpPr>
          <p:cNvPr id="21" name="Text 18"/>
          <p:cNvSpPr txBox="1"/>
          <p:nvPr/>
        </p:nvSpPr>
        <p:spPr>
          <a:xfrm>
            <a:off x="4379976" y="3200400"/>
            <a:ext cx="1554480" cy="502920"/>
          </a:xfrm>
          <a:prstGeom prst="rect">
            <a:avLst/>
          </a:prstGeom>
          <a:noFill/>
          <a:ln/>
        </p:spPr>
        <p:txBody>
          <a:bodyPr wrap="square" lIns="0" tIns="0" rIns="0" bIns="0" rtlCol="0" anchor="t"/>
          <a:lstStyle/>
          <a:p>
            <a:pPr indent="0" marL="0">
              <a:buNone/>
            </a:pPr>
            <a:r>
              <a:rPr lang="en-US" sz="1200" dirty="0">
                <a:solidFill>
                  <a:schemeClr val="tx1"/>
                </a:solidFill>
              </a:rPr>
              <a:t>Relational data via mysql2</a:t>
            </a:r>
            <a:endParaRPr lang="en-US" sz="1200" dirty="0"/>
          </a:p>
        </p:txBody>
      </p:sp>
      <p:sp>
        <p:nvSpPr>
          <p:cNvPr id="22" name="Learned panel"/>
          <p:cNvSpPr/>
          <p:nvPr/>
        </p:nvSpPr>
        <p:spPr>
          <a:xfrm>
            <a:off x="6172200" y="1005840"/>
            <a:ext cx="2514600" cy="2880360"/>
          </a:xfrm>
          <a:prstGeom prst="roundRect">
            <a:avLst>
              <a:gd name="adj" fmla="val 2909"/>
            </a:avLst>
          </a:prstGeom>
          <a:solidFill>
            <a:schemeClr val="tx2"/>
          </a:solidFill>
          <a:ln w="12700">
            <a:solidFill>
              <a:schemeClr val="tx2"/>
            </a:solidFill>
            <a:prstDash val="solid"/>
          </a:ln>
        </p:spPr>
      </p:sp>
      <p:sp>
        <p:nvSpPr>
          <p:cNvPr id="23" name="Text 20"/>
          <p:cNvSpPr txBox="1"/>
          <p:nvPr/>
        </p:nvSpPr>
        <p:spPr>
          <a:xfrm>
            <a:off x="6355080" y="1115568"/>
            <a:ext cx="2194560" cy="365760"/>
          </a:xfrm>
          <a:prstGeom prst="rect">
            <a:avLst/>
          </a:prstGeom>
          <a:noFill/>
          <a:ln/>
        </p:spPr>
        <p:txBody>
          <a:bodyPr wrap="square" lIns="0" tIns="0" rIns="0" bIns="0" rtlCol="0" anchor="ctr"/>
          <a:lstStyle/>
          <a:p>
            <a:pPr indent="0" marL="0">
              <a:buNone/>
            </a:pPr>
            <a:r>
              <a:rPr lang="en-US" sz="1700" b="1" dirty="0">
                <a:solidFill>
                  <a:schemeClr val="accent6"/>
                </a:solidFill>
                <a:latin typeface="Cambria" pitchFamily="34" charset="0"/>
                <a:ea typeface="Cambria" pitchFamily="34" charset="-122"/>
                <a:cs typeface="Cambria" pitchFamily="34" charset="-120"/>
              </a:rPr>
              <a:t>Also learned</a:t>
            </a:r>
            <a:endParaRPr lang="en-US" sz="1700" dirty="0"/>
          </a:p>
        </p:txBody>
      </p:sp>
      <p:sp>
        <p:nvSpPr>
          <p:cNvPr id="24" name="Text 21"/>
          <p:cNvSpPr txBox="1"/>
          <p:nvPr/>
        </p:nvSpPr>
        <p:spPr>
          <a:xfrm>
            <a:off x="6355080" y="1554480"/>
            <a:ext cx="2194560" cy="2240280"/>
          </a:xfrm>
          <a:prstGeom prst="rect">
            <a:avLst/>
          </a:prstGeom>
          <a:noFill/>
          <a:ln/>
        </p:spPr>
        <p:txBody>
          <a:bodyPr wrap="square" lIns="0" tIns="0" rIns="0" bIns="0" rtlCol="0" anchor="t"/>
          <a:lstStyle/>
          <a:p>
            <a:pPr indent="0" marL="0">
              <a:spcAft>
                <a:spcPts val="300"/>
              </a:spcAft>
              <a:buNone/>
            </a:pPr>
            <a:r>
              <a:rPr lang="en-US" sz="1300" b="1" dirty="0">
                <a:solidFill>
                  <a:schemeClr val="bg1"/>
                </a:solidFill>
              </a:rPr>
              <a:t>Bootstrap, Foundation</a:t>
            </a:r>
            <a:endParaRPr lang="en-US" sz="1300" dirty="0"/>
          </a:p>
          <a:p>
            <a:pPr indent="0" marL="0">
              <a:spcAft>
                <a:spcPts val="300"/>
              </a:spcAft>
              <a:buNone/>
            </a:pPr>
            <a:r>
              <a:rPr lang="en-US" sz="1100" dirty="0">
                <a:solidFill>
                  <a:schemeClr val="accent6"/>
                </a:solidFill>
              </a:rPr>
              <a:t>CSS frameworks</a:t>
            </a:r>
            <a:endParaRPr lang="en-US" sz="1300" dirty="0"/>
          </a:p>
          <a:p>
            <a:pPr indent="0" marL="0">
              <a:spcAft>
                <a:spcPts val="300"/>
              </a:spcAft>
              <a:buNone/>
            </a:pPr>
            <a:r>
              <a:rPr lang="en-US" sz="1300" b="1" dirty="0">
                <a:solidFill>
                  <a:schemeClr val="bg1"/>
                </a:solidFill>
              </a:rPr>
              <a:t>Google Analytics</a:t>
            </a:r>
            <a:endParaRPr lang="en-US" sz="1300" dirty="0"/>
          </a:p>
          <a:p>
            <a:pPr indent="0" marL="0">
              <a:spcAft>
                <a:spcPts val="300"/>
              </a:spcAft>
              <a:buNone/>
            </a:pPr>
            <a:r>
              <a:rPr lang="en-US" sz="1100" dirty="0">
                <a:solidFill>
                  <a:schemeClr val="accent6"/>
                </a:solidFill>
              </a:rPr>
              <a:t>Website statistics</a:t>
            </a:r>
            <a:endParaRPr lang="en-US" sz="1300" dirty="0"/>
          </a:p>
          <a:p>
            <a:pPr indent="0" marL="0">
              <a:spcAft>
                <a:spcPts val="300"/>
              </a:spcAft>
              <a:buNone/>
            </a:pPr>
            <a:r>
              <a:rPr lang="en-US" sz="1300" b="1" dirty="0">
                <a:solidFill>
                  <a:schemeClr val="bg1"/>
                </a:solidFill>
              </a:rPr>
              <a:t>HTTPS and XSS</a:t>
            </a:r>
            <a:endParaRPr lang="en-US" sz="1300" dirty="0"/>
          </a:p>
          <a:p>
            <a:pPr indent="0" marL="0">
              <a:spcAft>
                <a:spcPts val="300"/>
              </a:spcAft>
              <a:buNone/>
            </a:pPr>
            <a:r>
              <a:rPr lang="en-US" sz="1100" dirty="0">
                <a:solidFill>
                  <a:schemeClr val="accent6"/>
                </a:solidFill>
              </a:rPr>
              <a:t>Web security basics</a:t>
            </a:r>
            <a:endParaRPr lang="en-US" sz="1300" dirty="0"/>
          </a:p>
          <a:p>
            <a:pPr indent="0" marL="0">
              <a:spcAft>
                <a:spcPts val="300"/>
              </a:spcAft>
              <a:buNone/>
            </a:pPr>
            <a:r>
              <a:rPr lang="en-US" sz="1300" b="1" dirty="0">
                <a:solidFill>
                  <a:schemeClr val="bg1"/>
                </a:solidFill>
              </a:rPr>
              <a:t>JDBC</a:t>
            </a:r>
            <a:endParaRPr lang="en-US" sz="1300" dirty="0"/>
          </a:p>
          <a:p>
            <a:pPr indent="0" marL="0">
              <a:spcAft>
                <a:spcPts val="300"/>
              </a:spcAft>
              <a:buNone/>
            </a:pPr>
            <a:r>
              <a:rPr lang="en-US" sz="1100" dirty="0">
                <a:solidFill>
                  <a:schemeClr val="accent6"/>
                </a:solidFill>
              </a:rPr>
              <a:t>Database CRUD with Java</a:t>
            </a:r>
            <a:endParaRPr lang="en-US" sz="1300" dirty="0"/>
          </a:p>
        </p:txBody>
      </p:sp>
      <p:sp>
        <p:nvSpPr>
          <p:cNvPr id="25" name="Banner"/>
          <p:cNvSpPr/>
          <p:nvPr/>
        </p:nvSpPr>
        <p:spPr>
          <a:xfrm>
            <a:off x="457200" y="4069080"/>
            <a:ext cx="8229600" cy="457200"/>
          </a:xfrm>
          <a:prstGeom prst="roundRect">
            <a:avLst>
              <a:gd name="adj" fmla="val 16000"/>
            </a:avLst>
          </a:prstGeom>
          <a:solidFill>
            <a:schemeClr val="accent1"/>
          </a:solidFill>
          <a:ln w="12700">
            <a:solidFill>
              <a:schemeClr val="accent1"/>
            </a:solidFill>
            <a:prstDash val="solid"/>
          </a:ln>
        </p:spPr>
      </p:sp>
      <p:sp>
        <p:nvSpPr>
          <p:cNvPr id="26" name="Banner text"/>
          <p:cNvSpPr txBox="1"/>
          <p:nvPr/>
        </p:nvSpPr>
        <p:spPr>
          <a:xfrm>
            <a:off x="640080" y="4069080"/>
            <a:ext cx="7863840" cy="457200"/>
          </a:xfrm>
          <a:prstGeom prst="rect">
            <a:avLst/>
          </a:prstGeom>
          <a:noFill/>
          <a:ln/>
        </p:spPr>
        <p:txBody>
          <a:bodyPr wrap="square" lIns="0" tIns="0" rIns="0" bIns="0" rtlCol="0" anchor="ctr"/>
          <a:lstStyle/>
          <a:p>
            <a:pPr indent="0" marL="0">
              <a:buNone/>
            </a:pPr>
            <a:r>
              <a:rPr lang="en-US" sz="1300" b="1" dirty="0">
                <a:solidFill>
                  <a:schemeClr val="bg1"/>
                </a:solidFill>
              </a:rPr>
              <a:t>JavaScript runs on both sides: </a:t>
            </a:r>
            <a:pPr indent="0" marL="0">
              <a:buNone/>
            </a:pPr>
            <a:r>
              <a:rPr lang="en-US" sz="1300" dirty="0">
                <a:solidFill>
                  <a:schemeClr val="bg1"/>
                </a:solidFill>
              </a:rPr>
              <a:t>in the browser and on the Node.js server.</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28600"/>
            <a:ext cx="8229600" cy="59436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Modules and Booking Workflow</a:t>
            </a:r>
            <a:endParaRPr lang="en-US" sz="2600" dirty="0"/>
          </a:p>
        </p:txBody>
      </p:sp>
      <p:sp>
        <p:nvSpPr>
          <p:cNvPr id="4" name="Step Login"/>
          <p:cNvSpPr/>
          <p:nvPr/>
        </p:nvSpPr>
        <p:spPr>
          <a:xfrm>
            <a:off x="457200" y="1005840"/>
            <a:ext cx="1234440" cy="1691640"/>
          </a:xfrm>
          <a:prstGeom prst="roundRect">
            <a:avLst>
              <a:gd name="adj" fmla="val 5926"/>
            </a:avLst>
          </a:prstGeom>
          <a:solidFill>
            <a:schemeClr val="bg2"/>
          </a:solidFill>
          <a:ln w="12700">
            <a:solidFill>
              <a:schemeClr val="bg2"/>
            </a:solidFill>
            <a:prstDash val="solid"/>
          </a:ln>
        </p:spPr>
      </p:sp>
      <p:sp>
        <p:nvSpPr>
          <p:cNvPr id="5" name="Number 1"/>
          <p:cNvSpPr txBox="1"/>
          <p:nvPr/>
        </p:nvSpPr>
        <p:spPr>
          <a:xfrm>
            <a:off x="566928" y="1097280"/>
            <a:ext cx="274320" cy="274320"/>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6" name="Text 3"/>
          <p:cNvSpPr txBox="1"/>
          <p:nvPr/>
        </p:nvSpPr>
        <p:spPr>
          <a:xfrm>
            <a:off x="548640" y="1444752"/>
            <a:ext cx="1051560" cy="274320"/>
          </a:xfrm>
          <a:prstGeom prst="rect">
            <a:avLst/>
          </a:prstGeom>
          <a:noFill/>
          <a:ln/>
        </p:spPr>
        <p:txBody>
          <a:bodyPr wrap="square" lIns="0" tIns="0" rIns="0" bIns="0" rtlCol="0" anchor="ctr"/>
          <a:lstStyle/>
          <a:p>
            <a:pPr indent="0" marL="0">
              <a:buNone/>
            </a:pPr>
            <a:r>
              <a:rPr lang="en-US" sz="1400" b="1" dirty="0">
                <a:solidFill>
                  <a:schemeClr val="tx2"/>
                </a:solidFill>
              </a:rPr>
              <a:t>Login</a:t>
            </a:r>
            <a:endParaRPr lang="en-US" sz="1400" dirty="0"/>
          </a:p>
        </p:txBody>
      </p:sp>
      <p:sp>
        <p:nvSpPr>
          <p:cNvPr id="7" name="Text 4"/>
          <p:cNvSpPr txBox="1"/>
          <p:nvPr/>
        </p:nvSpPr>
        <p:spPr>
          <a:xfrm>
            <a:off x="548640" y="1755648"/>
            <a:ext cx="1051560" cy="868680"/>
          </a:xfrm>
          <a:prstGeom prst="rect">
            <a:avLst/>
          </a:prstGeom>
          <a:noFill/>
          <a:ln/>
        </p:spPr>
        <p:txBody>
          <a:bodyPr wrap="square" lIns="0" tIns="0" rIns="0" bIns="0" rtlCol="0" anchor="t"/>
          <a:lstStyle/>
          <a:p>
            <a:pPr indent="0" marL="0">
              <a:buNone/>
            </a:pPr>
            <a:r>
              <a:rPr lang="en-US" sz="1100" dirty="0">
                <a:solidFill>
                  <a:schemeClr val="tx1"/>
                </a:solidFill>
              </a:rPr>
              <a:t>Credentials checked in the database</a:t>
            </a:r>
            <a:endParaRPr lang="en-US" sz="1100" dirty="0"/>
          </a:p>
        </p:txBody>
      </p:sp>
      <p:sp>
        <p:nvSpPr>
          <p:cNvPr id="8" name="Arrow"/>
          <p:cNvSpPr/>
          <p:nvPr/>
        </p:nvSpPr>
        <p:spPr>
          <a:xfrm>
            <a:off x="1709928" y="1783080"/>
            <a:ext cx="128016" cy="182880"/>
          </a:xfrm>
          <a:prstGeom prst="rightArrow">
            <a:avLst/>
          </a:prstGeom>
          <a:solidFill>
            <a:schemeClr val="accent1"/>
          </a:solidFill>
          <a:ln w="12700">
            <a:solidFill>
              <a:schemeClr val="accent1"/>
            </a:solidFill>
            <a:prstDash val="solid"/>
          </a:ln>
        </p:spPr>
      </p:sp>
      <p:sp>
        <p:nvSpPr>
          <p:cNvPr id="9" name="Step Search"/>
          <p:cNvSpPr/>
          <p:nvPr/>
        </p:nvSpPr>
        <p:spPr>
          <a:xfrm>
            <a:off x="1856232" y="1005840"/>
            <a:ext cx="1234440" cy="1691640"/>
          </a:xfrm>
          <a:prstGeom prst="roundRect">
            <a:avLst>
              <a:gd name="adj" fmla="val 5926"/>
            </a:avLst>
          </a:prstGeom>
          <a:solidFill>
            <a:schemeClr val="bg2"/>
          </a:solidFill>
          <a:ln w="12700">
            <a:solidFill>
              <a:schemeClr val="bg2"/>
            </a:solidFill>
            <a:prstDash val="solid"/>
          </a:ln>
        </p:spPr>
      </p:sp>
      <p:sp>
        <p:nvSpPr>
          <p:cNvPr id="10" name="Number 2"/>
          <p:cNvSpPr txBox="1"/>
          <p:nvPr/>
        </p:nvSpPr>
        <p:spPr>
          <a:xfrm>
            <a:off x="1965960" y="1097280"/>
            <a:ext cx="274320" cy="274320"/>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1" name="Text 8"/>
          <p:cNvSpPr txBox="1"/>
          <p:nvPr/>
        </p:nvSpPr>
        <p:spPr>
          <a:xfrm>
            <a:off x="1947672" y="1444752"/>
            <a:ext cx="1051560" cy="274320"/>
          </a:xfrm>
          <a:prstGeom prst="rect">
            <a:avLst/>
          </a:prstGeom>
          <a:noFill/>
          <a:ln/>
        </p:spPr>
        <p:txBody>
          <a:bodyPr wrap="square" lIns="0" tIns="0" rIns="0" bIns="0" rtlCol="0" anchor="ctr"/>
          <a:lstStyle/>
          <a:p>
            <a:pPr indent="0" marL="0">
              <a:buNone/>
            </a:pPr>
            <a:r>
              <a:rPr lang="en-US" sz="1400" b="1" dirty="0">
                <a:solidFill>
                  <a:schemeClr val="tx2"/>
                </a:solidFill>
              </a:rPr>
              <a:t>Search</a:t>
            </a:r>
            <a:endParaRPr lang="en-US" sz="1400" dirty="0"/>
          </a:p>
        </p:txBody>
      </p:sp>
      <p:sp>
        <p:nvSpPr>
          <p:cNvPr id="12" name="Text 9"/>
          <p:cNvSpPr txBox="1"/>
          <p:nvPr/>
        </p:nvSpPr>
        <p:spPr>
          <a:xfrm>
            <a:off x="1947672" y="1755648"/>
            <a:ext cx="1051560" cy="868680"/>
          </a:xfrm>
          <a:prstGeom prst="rect">
            <a:avLst/>
          </a:prstGeom>
          <a:noFill/>
          <a:ln/>
        </p:spPr>
        <p:txBody>
          <a:bodyPr wrap="square" lIns="0" tIns="0" rIns="0" bIns="0" rtlCol="0" anchor="t"/>
          <a:lstStyle/>
          <a:p>
            <a:pPr indent="0" marL="0">
              <a:buNone/>
            </a:pPr>
            <a:r>
              <a:rPr lang="en-US" sz="1100" dirty="0">
                <a:solidFill>
                  <a:schemeClr val="tx1"/>
                </a:solidFill>
              </a:rPr>
              <a:t>Source, destination, date give matching trains</a:t>
            </a:r>
            <a:endParaRPr lang="en-US" sz="1100" dirty="0"/>
          </a:p>
        </p:txBody>
      </p:sp>
      <p:sp>
        <p:nvSpPr>
          <p:cNvPr id="13" name="Arrow"/>
          <p:cNvSpPr/>
          <p:nvPr/>
        </p:nvSpPr>
        <p:spPr>
          <a:xfrm>
            <a:off x="3108960" y="1783080"/>
            <a:ext cx="128016" cy="182880"/>
          </a:xfrm>
          <a:prstGeom prst="rightArrow">
            <a:avLst/>
          </a:prstGeom>
          <a:solidFill>
            <a:schemeClr val="accent1"/>
          </a:solidFill>
          <a:ln w="12700">
            <a:solidFill>
              <a:schemeClr val="accent1"/>
            </a:solidFill>
            <a:prstDash val="solid"/>
          </a:ln>
        </p:spPr>
      </p:sp>
      <p:sp>
        <p:nvSpPr>
          <p:cNvPr id="14" name="Step Seats"/>
          <p:cNvSpPr/>
          <p:nvPr/>
        </p:nvSpPr>
        <p:spPr>
          <a:xfrm>
            <a:off x="3255264" y="1005840"/>
            <a:ext cx="1234440" cy="1691640"/>
          </a:xfrm>
          <a:prstGeom prst="roundRect">
            <a:avLst>
              <a:gd name="adj" fmla="val 5926"/>
            </a:avLst>
          </a:prstGeom>
          <a:solidFill>
            <a:schemeClr val="bg2"/>
          </a:solidFill>
          <a:ln w="12700">
            <a:solidFill>
              <a:schemeClr val="bg2"/>
            </a:solidFill>
            <a:prstDash val="solid"/>
          </a:ln>
        </p:spPr>
      </p:sp>
      <p:sp>
        <p:nvSpPr>
          <p:cNvPr id="15" name="Number 3"/>
          <p:cNvSpPr txBox="1"/>
          <p:nvPr/>
        </p:nvSpPr>
        <p:spPr>
          <a:xfrm>
            <a:off x="3364992" y="1097280"/>
            <a:ext cx="274320" cy="274320"/>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3"/>
          <p:cNvSpPr txBox="1"/>
          <p:nvPr/>
        </p:nvSpPr>
        <p:spPr>
          <a:xfrm>
            <a:off x="3346704" y="1444752"/>
            <a:ext cx="1051560" cy="274320"/>
          </a:xfrm>
          <a:prstGeom prst="rect">
            <a:avLst/>
          </a:prstGeom>
          <a:noFill/>
          <a:ln/>
        </p:spPr>
        <p:txBody>
          <a:bodyPr wrap="square" lIns="0" tIns="0" rIns="0" bIns="0" rtlCol="0" anchor="ctr"/>
          <a:lstStyle/>
          <a:p>
            <a:pPr indent="0" marL="0">
              <a:buNone/>
            </a:pPr>
            <a:r>
              <a:rPr lang="en-US" sz="1400" b="1" dirty="0">
                <a:solidFill>
                  <a:schemeClr val="tx2"/>
                </a:solidFill>
              </a:rPr>
              <a:t>Seats</a:t>
            </a:r>
            <a:endParaRPr lang="en-US" sz="1400" dirty="0"/>
          </a:p>
        </p:txBody>
      </p:sp>
      <p:sp>
        <p:nvSpPr>
          <p:cNvPr id="17" name="Text 14"/>
          <p:cNvSpPr txBox="1"/>
          <p:nvPr/>
        </p:nvSpPr>
        <p:spPr>
          <a:xfrm>
            <a:off x="3346704" y="1755648"/>
            <a:ext cx="1051560" cy="868680"/>
          </a:xfrm>
          <a:prstGeom prst="rect">
            <a:avLst/>
          </a:prstGeom>
          <a:noFill/>
          <a:ln/>
        </p:spPr>
        <p:txBody>
          <a:bodyPr wrap="square" lIns="0" tIns="0" rIns="0" bIns="0" rtlCol="0" anchor="t"/>
          <a:lstStyle/>
          <a:p>
            <a:pPr indent="0" marL="0">
              <a:buNone/>
            </a:pPr>
            <a:r>
              <a:rPr lang="en-US" sz="1100" dirty="0">
                <a:solidFill>
                  <a:schemeClr val="tx1"/>
                </a:solidFill>
              </a:rPr>
              <a:t>Free seats shown; none means modify search</a:t>
            </a:r>
            <a:endParaRPr lang="en-US" sz="1100" dirty="0"/>
          </a:p>
        </p:txBody>
      </p:sp>
      <p:sp>
        <p:nvSpPr>
          <p:cNvPr id="18" name="Arrow"/>
          <p:cNvSpPr/>
          <p:nvPr/>
        </p:nvSpPr>
        <p:spPr>
          <a:xfrm>
            <a:off x="4507992" y="1783080"/>
            <a:ext cx="128016" cy="182880"/>
          </a:xfrm>
          <a:prstGeom prst="rightArrow">
            <a:avLst/>
          </a:prstGeom>
          <a:solidFill>
            <a:schemeClr val="accent1"/>
          </a:solidFill>
          <a:ln w="12700">
            <a:solidFill>
              <a:schemeClr val="accent1"/>
            </a:solidFill>
            <a:prstDash val="solid"/>
          </a:ln>
        </p:spPr>
      </p:sp>
      <p:sp>
        <p:nvSpPr>
          <p:cNvPr id="19" name="Step Details"/>
          <p:cNvSpPr/>
          <p:nvPr/>
        </p:nvSpPr>
        <p:spPr>
          <a:xfrm>
            <a:off x="4654296" y="1005840"/>
            <a:ext cx="1234440" cy="1691640"/>
          </a:xfrm>
          <a:prstGeom prst="roundRect">
            <a:avLst>
              <a:gd name="adj" fmla="val 5926"/>
            </a:avLst>
          </a:prstGeom>
          <a:solidFill>
            <a:schemeClr val="bg2"/>
          </a:solidFill>
          <a:ln w="12700">
            <a:solidFill>
              <a:schemeClr val="bg2"/>
            </a:solidFill>
            <a:prstDash val="solid"/>
          </a:ln>
        </p:spPr>
      </p:sp>
      <p:sp>
        <p:nvSpPr>
          <p:cNvPr id="20" name="Number 4"/>
          <p:cNvSpPr txBox="1"/>
          <p:nvPr/>
        </p:nvSpPr>
        <p:spPr>
          <a:xfrm>
            <a:off x="4764024" y="1097280"/>
            <a:ext cx="274320" cy="274320"/>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1" name="Text 18"/>
          <p:cNvSpPr txBox="1"/>
          <p:nvPr/>
        </p:nvSpPr>
        <p:spPr>
          <a:xfrm>
            <a:off x="4745736" y="1444752"/>
            <a:ext cx="1051560" cy="274320"/>
          </a:xfrm>
          <a:prstGeom prst="rect">
            <a:avLst/>
          </a:prstGeom>
          <a:noFill/>
          <a:ln/>
        </p:spPr>
        <p:txBody>
          <a:bodyPr wrap="square" lIns="0" tIns="0" rIns="0" bIns="0" rtlCol="0" anchor="ctr"/>
          <a:lstStyle/>
          <a:p>
            <a:pPr indent="0" marL="0">
              <a:buNone/>
            </a:pPr>
            <a:r>
              <a:rPr lang="en-US" sz="1400" b="1" dirty="0">
                <a:solidFill>
                  <a:schemeClr val="tx2"/>
                </a:solidFill>
              </a:rPr>
              <a:t>Details</a:t>
            </a:r>
            <a:endParaRPr lang="en-US" sz="1400" dirty="0"/>
          </a:p>
        </p:txBody>
      </p:sp>
      <p:sp>
        <p:nvSpPr>
          <p:cNvPr id="22" name="Text 19"/>
          <p:cNvSpPr txBox="1"/>
          <p:nvPr/>
        </p:nvSpPr>
        <p:spPr>
          <a:xfrm>
            <a:off x="4745736" y="1755648"/>
            <a:ext cx="1051560" cy="868680"/>
          </a:xfrm>
          <a:prstGeom prst="rect">
            <a:avLst/>
          </a:prstGeom>
          <a:noFill/>
          <a:ln/>
        </p:spPr>
        <p:txBody>
          <a:bodyPr wrap="square" lIns="0" tIns="0" rIns="0" bIns="0" rtlCol="0" anchor="t"/>
          <a:lstStyle/>
          <a:p>
            <a:pPr indent="0" marL="0">
              <a:buNone/>
            </a:pPr>
            <a:r>
              <a:rPr lang="en-US" sz="1100" dirty="0">
                <a:solidFill>
                  <a:schemeClr val="tx1"/>
                </a:solidFill>
              </a:rPr>
              <a:t>Passenger data validated, fare calculated</a:t>
            </a:r>
            <a:endParaRPr lang="en-US" sz="1100" dirty="0"/>
          </a:p>
        </p:txBody>
      </p:sp>
      <p:sp>
        <p:nvSpPr>
          <p:cNvPr id="23" name="Arrow"/>
          <p:cNvSpPr/>
          <p:nvPr/>
        </p:nvSpPr>
        <p:spPr>
          <a:xfrm>
            <a:off x="5907024" y="1783080"/>
            <a:ext cx="128016" cy="182880"/>
          </a:xfrm>
          <a:prstGeom prst="rightArrow">
            <a:avLst/>
          </a:prstGeom>
          <a:solidFill>
            <a:schemeClr val="accent1"/>
          </a:solidFill>
          <a:ln w="12700">
            <a:solidFill>
              <a:schemeClr val="accent1"/>
            </a:solidFill>
            <a:prstDash val="solid"/>
          </a:ln>
        </p:spPr>
      </p:sp>
      <p:sp>
        <p:nvSpPr>
          <p:cNvPr id="24" name="Step Payment"/>
          <p:cNvSpPr/>
          <p:nvPr/>
        </p:nvSpPr>
        <p:spPr>
          <a:xfrm>
            <a:off x="6053328" y="1005840"/>
            <a:ext cx="1234440" cy="1691640"/>
          </a:xfrm>
          <a:prstGeom prst="roundRect">
            <a:avLst>
              <a:gd name="adj" fmla="val 5926"/>
            </a:avLst>
          </a:prstGeom>
          <a:solidFill>
            <a:schemeClr val="bg2"/>
          </a:solidFill>
          <a:ln w="12700">
            <a:solidFill>
              <a:schemeClr val="bg2"/>
            </a:solidFill>
            <a:prstDash val="solid"/>
          </a:ln>
        </p:spPr>
      </p:sp>
      <p:sp>
        <p:nvSpPr>
          <p:cNvPr id="25" name="Number 5"/>
          <p:cNvSpPr txBox="1"/>
          <p:nvPr/>
        </p:nvSpPr>
        <p:spPr>
          <a:xfrm>
            <a:off x="6163056" y="1097280"/>
            <a:ext cx="274320" cy="274320"/>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6" name="Text 23"/>
          <p:cNvSpPr txBox="1"/>
          <p:nvPr/>
        </p:nvSpPr>
        <p:spPr>
          <a:xfrm>
            <a:off x="6144768" y="1444752"/>
            <a:ext cx="1051560" cy="274320"/>
          </a:xfrm>
          <a:prstGeom prst="rect">
            <a:avLst/>
          </a:prstGeom>
          <a:noFill/>
          <a:ln/>
        </p:spPr>
        <p:txBody>
          <a:bodyPr wrap="square" lIns="0" tIns="0" rIns="0" bIns="0" rtlCol="0" anchor="ctr"/>
          <a:lstStyle/>
          <a:p>
            <a:pPr indent="0" marL="0">
              <a:buNone/>
            </a:pPr>
            <a:r>
              <a:rPr lang="en-US" sz="1400" b="1" dirty="0">
                <a:solidFill>
                  <a:schemeClr val="tx2"/>
                </a:solidFill>
              </a:rPr>
              <a:t>Payment</a:t>
            </a:r>
            <a:endParaRPr lang="en-US" sz="1400" dirty="0"/>
          </a:p>
        </p:txBody>
      </p:sp>
      <p:sp>
        <p:nvSpPr>
          <p:cNvPr id="27" name="Text 24"/>
          <p:cNvSpPr txBox="1"/>
          <p:nvPr/>
        </p:nvSpPr>
        <p:spPr>
          <a:xfrm>
            <a:off x="6144768" y="1755648"/>
            <a:ext cx="1051560" cy="868680"/>
          </a:xfrm>
          <a:prstGeom prst="rect">
            <a:avLst/>
          </a:prstGeom>
          <a:noFill/>
          <a:ln/>
        </p:spPr>
        <p:txBody>
          <a:bodyPr wrap="square" lIns="0" tIns="0" rIns="0" bIns="0" rtlCol="0" anchor="t"/>
          <a:lstStyle/>
          <a:p>
            <a:pPr indent="0" marL="0">
              <a:buNone/>
            </a:pPr>
            <a:r>
              <a:rPr lang="en-US" sz="1100" dirty="0">
                <a:solidFill>
                  <a:schemeClr val="tx1"/>
                </a:solidFill>
              </a:rPr>
              <a:t>Payment processed; failure allows retry</a:t>
            </a:r>
            <a:endParaRPr lang="en-US" sz="1100" dirty="0"/>
          </a:p>
        </p:txBody>
      </p:sp>
      <p:sp>
        <p:nvSpPr>
          <p:cNvPr id="28" name="Arrow"/>
          <p:cNvSpPr/>
          <p:nvPr/>
        </p:nvSpPr>
        <p:spPr>
          <a:xfrm>
            <a:off x="7306056" y="1783080"/>
            <a:ext cx="128016" cy="182880"/>
          </a:xfrm>
          <a:prstGeom prst="rightArrow">
            <a:avLst/>
          </a:prstGeom>
          <a:solidFill>
            <a:schemeClr val="accent1"/>
          </a:solidFill>
          <a:ln w="12700">
            <a:solidFill>
              <a:schemeClr val="accent1"/>
            </a:solidFill>
            <a:prstDash val="solid"/>
          </a:ln>
        </p:spPr>
      </p:sp>
      <p:sp>
        <p:nvSpPr>
          <p:cNvPr id="29" name="Step Ticket"/>
          <p:cNvSpPr/>
          <p:nvPr/>
        </p:nvSpPr>
        <p:spPr>
          <a:xfrm>
            <a:off x="7452360" y="1005840"/>
            <a:ext cx="1234440" cy="1691640"/>
          </a:xfrm>
          <a:prstGeom prst="roundRect">
            <a:avLst>
              <a:gd name="adj" fmla="val 5926"/>
            </a:avLst>
          </a:prstGeom>
          <a:solidFill>
            <a:schemeClr val="bg2"/>
          </a:solidFill>
          <a:ln w="12700">
            <a:solidFill>
              <a:schemeClr val="bg2"/>
            </a:solidFill>
            <a:prstDash val="solid"/>
          </a:ln>
        </p:spPr>
      </p:sp>
      <p:sp>
        <p:nvSpPr>
          <p:cNvPr id="30" name="Number 6"/>
          <p:cNvSpPr txBox="1"/>
          <p:nvPr/>
        </p:nvSpPr>
        <p:spPr>
          <a:xfrm>
            <a:off x="7562088" y="1097280"/>
            <a:ext cx="274320" cy="274320"/>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31" name="Text 28"/>
          <p:cNvSpPr txBox="1"/>
          <p:nvPr/>
        </p:nvSpPr>
        <p:spPr>
          <a:xfrm>
            <a:off x="7543800" y="1444752"/>
            <a:ext cx="1051560" cy="274320"/>
          </a:xfrm>
          <a:prstGeom prst="rect">
            <a:avLst/>
          </a:prstGeom>
          <a:noFill/>
          <a:ln/>
        </p:spPr>
        <p:txBody>
          <a:bodyPr wrap="square" lIns="0" tIns="0" rIns="0" bIns="0" rtlCol="0" anchor="ctr"/>
          <a:lstStyle/>
          <a:p>
            <a:pPr indent="0" marL="0">
              <a:buNone/>
            </a:pPr>
            <a:r>
              <a:rPr lang="en-US" sz="1400" b="1" dirty="0">
                <a:solidFill>
                  <a:schemeClr val="tx2"/>
                </a:solidFill>
              </a:rPr>
              <a:t>Ticket</a:t>
            </a:r>
            <a:endParaRPr lang="en-US" sz="1400" dirty="0"/>
          </a:p>
        </p:txBody>
      </p:sp>
      <p:sp>
        <p:nvSpPr>
          <p:cNvPr id="32" name="Text 29"/>
          <p:cNvSpPr txBox="1"/>
          <p:nvPr/>
        </p:nvSpPr>
        <p:spPr>
          <a:xfrm>
            <a:off x="7543800" y="1755648"/>
            <a:ext cx="1051560" cy="868680"/>
          </a:xfrm>
          <a:prstGeom prst="rect">
            <a:avLst/>
          </a:prstGeom>
          <a:noFill/>
          <a:ln/>
        </p:spPr>
        <p:txBody>
          <a:bodyPr wrap="square" lIns="0" tIns="0" rIns="0" bIns="0" rtlCol="0" anchor="t"/>
          <a:lstStyle/>
          <a:p>
            <a:pPr indent="0" marL="0">
              <a:buNone/>
            </a:pPr>
            <a:r>
              <a:rPr lang="en-US" sz="1100" dirty="0">
                <a:solidFill>
                  <a:schemeClr val="tx1"/>
                </a:solidFill>
              </a:rPr>
              <a:t>Unique PNR generated, booking stored</a:t>
            </a:r>
            <a:endParaRPr lang="en-US" sz="1100" dirty="0"/>
          </a:p>
        </p:txBody>
      </p:sp>
      <p:sp>
        <p:nvSpPr>
          <p:cNvPr id="33" name="Module Cancellation and PNR status"/>
          <p:cNvSpPr/>
          <p:nvPr/>
        </p:nvSpPr>
        <p:spPr>
          <a:xfrm>
            <a:off x="457200" y="2880360"/>
            <a:ext cx="2651760" cy="1554480"/>
          </a:xfrm>
          <a:prstGeom prst="roundRect">
            <a:avLst>
              <a:gd name="adj" fmla="val 4706"/>
            </a:avLst>
          </a:prstGeom>
          <a:solidFill>
            <a:schemeClr val="tx2"/>
          </a:solidFill>
          <a:ln w="12700">
            <a:solidFill>
              <a:schemeClr val="tx2"/>
            </a:solidFill>
            <a:prstDash val="solid"/>
          </a:ln>
        </p:spPr>
      </p:sp>
      <p:sp>
        <p:nvSpPr>
          <p:cNvPr id="34" name="Text 31"/>
          <p:cNvSpPr txBox="1"/>
          <p:nvPr/>
        </p:nvSpPr>
        <p:spPr>
          <a:xfrm>
            <a:off x="640080" y="2971800"/>
            <a:ext cx="2286000" cy="320040"/>
          </a:xfrm>
          <a:prstGeom prst="rect">
            <a:avLst/>
          </a:prstGeom>
          <a:noFill/>
          <a:ln/>
        </p:spPr>
        <p:txBody>
          <a:bodyPr wrap="square" lIns="0" tIns="0" rIns="0" bIns="0" rtlCol="0" anchor="ctr"/>
          <a:lstStyle/>
          <a:p>
            <a:pPr indent="0" marL="0">
              <a:buNone/>
            </a:pPr>
            <a:r>
              <a:rPr lang="en-US" sz="1400" b="1" dirty="0">
                <a:solidFill>
                  <a:schemeClr val="accent6"/>
                </a:solidFill>
                <a:latin typeface="Cambria" pitchFamily="34" charset="0"/>
                <a:ea typeface="Cambria" pitchFamily="34" charset="-122"/>
                <a:cs typeface="Cambria" pitchFamily="34" charset="-120"/>
              </a:rPr>
              <a:t>Cancellation and PNR status</a:t>
            </a:r>
            <a:endParaRPr lang="en-US" sz="1400" dirty="0"/>
          </a:p>
        </p:txBody>
      </p:sp>
      <p:sp>
        <p:nvSpPr>
          <p:cNvPr id="35" name="Text 32"/>
          <p:cNvSpPr txBox="1"/>
          <p:nvPr/>
        </p:nvSpPr>
        <p:spPr>
          <a:xfrm>
            <a:off x="640080" y="3337560"/>
            <a:ext cx="2286000" cy="1097280"/>
          </a:xfrm>
          <a:prstGeom prst="rect">
            <a:avLst/>
          </a:prstGeom>
          <a:noFill/>
          <a:ln/>
        </p:spPr>
        <p:txBody>
          <a:bodyPr wrap="square" lIns="0" tIns="0" rIns="0" bIns="0" rtlCol="0" anchor="t"/>
          <a:lstStyle/>
          <a:p>
            <a:pPr indent="0" marL="0">
              <a:buNone/>
            </a:pPr>
            <a:r>
              <a:rPr lang="en-US" sz="1300" dirty="0">
                <a:solidFill>
                  <a:schemeClr val="bg1"/>
                </a:solidFill>
              </a:rPr>
              <a:t>Enter PNR or booking ID; status becomes Cancelled, the seat is released and availability is updated.</a:t>
            </a:r>
            <a:endParaRPr lang="en-US" sz="1300" dirty="0"/>
          </a:p>
        </p:txBody>
      </p:sp>
      <p:sp>
        <p:nvSpPr>
          <p:cNvPr id="36" name="Module Admin management"/>
          <p:cNvSpPr/>
          <p:nvPr/>
        </p:nvSpPr>
        <p:spPr>
          <a:xfrm>
            <a:off x="3246120" y="2880360"/>
            <a:ext cx="2651760" cy="1554480"/>
          </a:xfrm>
          <a:prstGeom prst="roundRect">
            <a:avLst>
              <a:gd name="adj" fmla="val 4706"/>
            </a:avLst>
          </a:prstGeom>
          <a:solidFill>
            <a:schemeClr val="tx2"/>
          </a:solidFill>
          <a:ln w="12700">
            <a:solidFill>
              <a:schemeClr val="tx2"/>
            </a:solidFill>
            <a:prstDash val="solid"/>
          </a:ln>
        </p:spPr>
      </p:sp>
      <p:sp>
        <p:nvSpPr>
          <p:cNvPr id="37" name="Text 34"/>
          <p:cNvSpPr txBox="1"/>
          <p:nvPr/>
        </p:nvSpPr>
        <p:spPr>
          <a:xfrm>
            <a:off x="3429000" y="2971800"/>
            <a:ext cx="2286000" cy="320040"/>
          </a:xfrm>
          <a:prstGeom prst="rect">
            <a:avLst/>
          </a:prstGeom>
          <a:noFill/>
          <a:ln/>
        </p:spPr>
        <p:txBody>
          <a:bodyPr wrap="square" lIns="0" tIns="0" rIns="0" bIns="0" rtlCol="0" anchor="ctr"/>
          <a:lstStyle/>
          <a:p>
            <a:pPr indent="0" marL="0">
              <a:buNone/>
            </a:pPr>
            <a:r>
              <a:rPr lang="en-US" sz="1400" b="1" dirty="0">
                <a:solidFill>
                  <a:schemeClr val="accent6"/>
                </a:solidFill>
                <a:latin typeface="Cambria" pitchFamily="34" charset="0"/>
                <a:ea typeface="Cambria" pitchFamily="34" charset="-122"/>
                <a:cs typeface="Cambria" pitchFamily="34" charset="-120"/>
              </a:rPr>
              <a:t>Admin management</a:t>
            </a:r>
            <a:endParaRPr lang="en-US" sz="1400" dirty="0"/>
          </a:p>
        </p:txBody>
      </p:sp>
      <p:sp>
        <p:nvSpPr>
          <p:cNvPr id="38" name="Text 35"/>
          <p:cNvSpPr txBox="1"/>
          <p:nvPr/>
        </p:nvSpPr>
        <p:spPr>
          <a:xfrm>
            <a:off x="3429000" y="3337560"/>
            <a:ext cx="2286000" cy="1097280"/>
          </a:xfrm>
          <a:prstGeom prst="rect">
            <a:avLst/>
          </a:prstGeom>
          <a:noFill/>
          <a:ln/>
        </p:spPr>
        <p:txBody>
          <a:bodyPr wrap="square" lIns="0" tIns="0" rIns="0" bIns="0" rtlCol="0" anchor="t"/>
          <a:lstStyle/>
          <a:p>
            <a:pPr indent="0" marL="0">
              <a:buNone/>
            </a:pPr>
            <a:r>
              <a:rPr lang="en-US" sz="1300" dirty="0">
                <a:solidFill>
                  <a:schemeClr val="bg1"/>
                </a:solidFill>
              </a:rPr>
              <a:t>Add, update and delete trains; manage schedules, users and bookings; view reports.</a:t>
            </a:r>
            <a:endParaRPr lang="en-US" sz="1300" dirty="0"/>
          </a:p>
        </p:txBody>
      </p:sp>
      <p:sp>
        <p:nvSpPr>
          <p:cNvPr id="39" name="Module Database and testing"/>
          <p:cNvSpPr/>
          <p:nvPr/>
        </p:nvSpPr>
        <p:spPr>
          <a:xfrm>
            <a:off x="6035040" y="2880360"/>
            <a:ext cx="2651760" cy="1554480"/>
          </a:xfrm>
          <a:prstGeom prst="roundRect">
            <a:avLst>
              <a:gd name="adj" fmla="val 4706"/>
            </a:avLst>
          </a:prstGeom>
          <a:solidFill>
            <a:schemeClr val="tx2"/>
          </a:solidFill>
          <a:ln w="12700">
            <a:solidFill>
              <a:schemeClr val="tx2"/>
            </a:solidFill>
            <a:prstDash val="solid"/>
          </a:ln>
        </p:spPr>
      </p:sp>
      <p:sp>
        <p:nvSpPr>
          <p:cNvPr id="40" name="Text 37"/>
          <p:cNvSpPr txBox="1"/>
          <p:nvPr/>
        </p:nvSpPr>
        <p:spPr>
          <a:xfrm>
            <a:off x="6217920" y="2971800"/>
            <a:ext cx="2286000" cy="320040"/>
          </a:xfrm>
          <a:prstGeom prst="rect">
            <a:avLst/>
          </a:prstGeom>
          <a:noFill/>
          <a:ln/>
        </p:spPr>
        <p:txBody>
          <a:bodyPr wrap="square" lIns="0" tIns="0" rIns="0" bIns="0" rtlCol="0" anchor="ctr"/>
          <a:lstStyle/>
          <a:p>
            <a:pPr indent="0" marL="0">
              <a:buNone/>
            </a:pPr>
            <a:r>
              <a:rPr lang="en-US" sz="1400" b="1" dirty="0">
                <a:solidFill>
                  <a:schemeClr val="accent6"/>
                </a:solidFill>
                <a:latin typeface="Cambria" pitchFamily="34" charset="0"/>
                <a:ea typeface="Cambria" pitchFamily="34" charset="-122"/>
                <a:cs typeface="Cambria" pitchFamily="34" charset="-120"/>
              </a:rPr>
              <a:t>Database and testing</a:t>
            </a:r>
            <a:endParaRPr lang="en-US" sz="1400" dirty="0"/>
          </a:p>
        </p:txBody>
      </p:sp>
      <p:sp>
        <p:nvSpPr>
          <p:cNvPr id="41" name="Text 38"/>
          <p:cNvSpPr txBox="1"/>
          <p:nvPr/>
        </p:nvSpPr>
        <p:spPr>
          <a:xfrm>
            <a:off x="6217920" y="3337560"/>
            <a:ext cx="2286000" cy="1097280"/>
          </a:xfrm>
          <a:prstGeom prst="rect">
            <a:avLst/>
          </a:prstGeom>
          <a:noFill/>
          <a:ln/>
        </p:spPr>
        <p:txBody>
          <a:bodyPr wrap="square" lIns="0" tIns="0" rIns="0" bIns="0" rtlCol="0" anchor="t"/>
          <a:lstStyle/>
          <a:p>
            <a:pPr indent="0" marL="0">
              <a:buNone/>
            </a:pPr>
            <a:r>
              <a:rPr lang="en-US" sz="1300" dirty="0">
                <a:solidFill>
                  <a:schemeClr val="bg1"/>
                </a:solidFill>
              </a:rPr>
              <a:t>Central MySQL store for users, trains, seats, bookings and payments. Main functions were tested.</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28600"/>
            <a:ext cx="8229600" cy="59436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Implementation</a:t>
            </a:r>
            <a:endParaRPr lang="en-US" sz="2600" dirty="0"/>
          </a:p>
        </p:txBody>
      </p:sp>
      <p:sp>
        <p:nvSpPr>
          <p:cNvPr id="4" name="Impl step 1"/>
          <p:cNvSpPr/>
          <p:nvPr/>
        </p:nvSpPr>
        <p:spPr>
          <a:xfrm>
            <a:off x="457200" y="1005840"/>
            <a:ext cx="3840480" cy="749808"/>
          </a:xfrm>
          <a:prstGeom prst="roundRect">
            <a:avLst>
              <a:gd name="adj" fmla="val 9756"/>
            </a:avLst>
          </a:prstGeom>
          <a:solidFill>
            <a:schemeClr val="bg2"/>
          </a:solidFill>
          <a:ln w="12700">
            <a:solidFill>
              <a:schemeClr val="bg2"/>
            </a:solidFill>
            <a:prstDash val="solid"/>
          </a:ln>
        </p:spPr>
      </p:sp>
      <p:sp>
        <p:nvSpPr>
          <p:cNvPr id="5" name="Number 1"/>
          <p:cNvSpPr txBox="1"/>
          <p:nvPr/>
        </p:nvSpPr>
        <p:spPr>
          <a:xfrm>
            <a:off x="594360" y="1243584"/>
            <a:ext cx="274320" cy="274320"/>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6" name="Text 3"/>
          <p:cNvSpPr txBox="1"/>
          <p:nvPr/>
        </p:nvSpPr>
        <p:spPr>
          <a:xfrm>
            <a:off x="1005840" y="1005840"/>
            <a:ext cx="3200400" cy="749808"/>
          </a:xfrm>
          <a:prstGeom prst="rect">
            <a:avLst/>
          </a:prstGeom>
          <a:noFill/>
          <a:ln/>
        </p:spPr>
        <p:txBody>
          <a:bodyPr wrap="square" lIns="0" tIns="0" rIns="0" bIns="0" rtlCol="0" anchor="ctr"/>
          <a:lstStyle/>
          <a:p>
            <a:pPr indent="0" marL="0">
              <a:buNone/>
            </a:pPr>
            <a:r>
              <a:rPr lang="en-US" sz="1200" dirty="0">
                <a:solidFill>
                  <a:schemeClr val="tx1"/>
                </a:solidFill>
              </a:rPr>
              <a:t>HTML forms send POST requests to the server</a:t>
            </a:r>
            <a:endParaRPr lang="en-US" sz="1200" dirty="0"/>
          </a:p>
        </p:txBody>
      </p:sp>
      <p:sp>
        <p:nvSpPr>
          <p:cNvPr id="7" name="Impl step 2"/>
          <p:cNvSpPr/>
          <p:nvPr/>
        </p:nvSpPr>
        <p:spPr>
          <a:xfrm>
            <a:off x="457200" y="1874520"/>
            <a:ext cx="3840480" cy="749808"/>
          </a:xfrm>
          <a:prstGeom prst="roundRect">
            <a:avLst>
              <a:gd name="adj" fmla="val 9756"/>
            </a:avLst>
          </a:prstGeom>
          <a:solidFill>
            <a:schemeClr val="bg2"/>
          </a:solidFill>
          <a:ln w="12700">
            <a:solidFill>
              <a:schemeClr val="bg2"/>
            </a:solidFill>
            <a:prstDash val="solid"/>
          </a:ln>
        </p:spPr>
      </p:sp>
      <p:sp>
        <p:nvSpPr>
          <p:cNvPr id="8" name="Number 2"/>
          <p:cNvSpPr txBox="1"/>
          <p:nvPr/>
        </p:nvSpPr>
        <p:spPr>
          <a:xfrm>
            <a:off x="594360" y="2112264"/>
            <a:ext cx="274320" cy="274320"/>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9" name="Text 6"/>
          <p:cNvSpPr txBox="1"/>
          <p:nvPr/>
        </p:nvSpPr>
        <p:spPr>
          <a:xfrm>
            <a:off x="1005840" y="1874520"/>
            <a:ext cx="3200400" cy="749808"/>
          </a:xfrm>
          <a:prstGeom prst="rect">
            <a:avLst/>
          </a:prstGeom>
          <a:noFill/>
          <a:ln/>
        </p:spPr>
        <p:txBody>
          <a:bodyPr wrap="square" lIns="0" tIns="0" rIns="0" bIns="0" rtlCol="0" anchor="ctr"/>
          <a:lstStyle/>
          <a:p>
            <a:pPr indent="0" marL="0">
              <a:buNone/>
            </a:pPr>
            <a:r>
              <a:rPr lang="en-US" sz="1200" dirty="0">
                <a:solidFill>
                  <a:schemeClr val="tx1"/>
                </a:solidFill>
              </a:rPr>
              <a:t>Express routes: /login, /search, /book, /payment, /cancel</a:t>
            </a:r>
            <a:endParaRPr lang="en-US" sz="1200" dirty="0"/>
          </a:p>
        </p:txBody>
      </p:sp>
      <p:sp>
        <p:nvSpPr>
          <p:cNvPr id="10" name="Impl step 3"/>
          <p:cNvSpPr/>
          <p:nvPr/>
        </p:nvSpPr>
        <p:spPr>
          <a:xfrm>
            <a:off x="457200" y="2743200"/>
            <a:ext cx="3840480" cy="749808"/>
          </a:xfrm>
          <a:prstGeom prst="roundRect">
            <a:avLst>
              <a:gd name="adj" fmla="val 9756"/>
            </a:avLst>
          </a:prstGeom>
          <a:solidFill>
            <a:schemeClr val="bg2"/>
          </a:solidFill>
          <a:ln w="12700">
            <a:solidFill>
              <a:schemeClr val="bg2"/>
            </a:solidFill>
            <a:prstDash val="solid"/>
          </a:ln>
        </p:spPr>
      </p:sp>
      <p:sp>
        <p:nvSpPr>
          <p:cNvPr id="11" name="Number 3"/>
          <p:cNvSpPr txBox="1"/>
          <p:nvPr/>
        </p:nvSpPr>
        <p:spPr>
          <a:xfrm>
            <a:off x="594360" y="2980944"/>
            <a:ext cx="274320" cy="274320"/>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2" name="Text 9"/>
          <p:cNvSpPr txBox="1"/>
          <p:nvPr/>
        </p:nvSpPr>
        <p:spPr>
          <a:xfrm>
            <a:off x="1005840" y="2743200"/>
            <a:ext cx="3200400" cy="749808"/>
          </a:xfrm>
          <a:prstGeom prst="rect">
            <a:avLst/>
          </a:prstGeom>
          <a:noFill/>
          <a:ln/>
        </p:spPr>
        <p:txBody>
          <a:bodyPr wrap="square" lIns="0" tIns="0" rIns="0" bIns="0" rtlCol="0" anchor="ctr"/>
          <a:lstStyle/>
          <a:p>
            <a:pPr indent="0" marL="0">
              <a:buNone/>
            </a:pPr>
            <a:r>
              <a:rPr lang="en-US" sz="1200" dirty="0">
                <a:solidFill>
                  <a:schemeClr val="tx1"/>
                </a:solidFill>
              </a:rPr>
              <a:t>Parameterised SQL (?) through mysql2, so input is never joined into the query</a:t>
            </a:r>
            <a:endParaRPr lang="en-US" sz="1200" dirty="0"/>
          </a:p>
        </p:txBody>
      </p:sp>
      <p:sp>
        <p:nvSpPr>
          <p:cNvPr id="13" name="Impl step 4"/>
          <p:cNvSpPr/>
          <p:nvPr/>
        </p:nvSpPr>
        <p:spPr>
          <a:xfrm>
            <a:off x="457200" y="3611880"/>
            <a:ext cx="3840480" cy="749808"/>
          </a:xfrm>
          <a:prstGeom prst="roundRect">
            <a:avLst>
              <a:gd name="adj" fmla="val 9756"/>
            </a:avLst>
          </a:prstGeom>
          <a:solidFill>
            <a:schemeClr val="bg2"/>
          </a:solidFill>
          <a:ln w="12700">
            <a:solidFill>
              <a:schemeClr val="bg2"/>
            </a:solidFill>
            <a:prstDash val="solid"/>
          </a:ln>
        </p:spPr>
      </p:sp>
      <p:sp>
        <p:nvSpPr>
          <p:cNvPr id="14" name="Number 4"/>
          <p:cNvSpPr txBox="1"/>
          <p:nvPr/>
        </p:nvSpPr>
        <p:spPr>
          <a:xfrm>
            <a:off x="594360" y="3849624"/>
            <a:ext cx="274320" cy="274320"/>
          </a:xfrm>
          <a:prstGeom prst="ellipse">
            <a:avLst/>
          </a:prstGeom>
          <a:solidFill>
            <a:schemeClr val="tx2"/>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5" name="Text 12"/>
          <p:cNvSpPr txBox="1"/>
          <p:nvPr/>
        </p:nvSpPr>
        <p:spPr>
          <a:xfrm>
            <a:off x="1005840" y="3611880"/>
            <a:ext cx="3200400" cy="749808"/>
          </a:xfrm>
          <a:prstGeom prst="rect">
            <a:avLst/>
          </a:prstGeom>
          <a:noFill/>
          <a:ln/>
        </p:spPr>
        <p:txBody>
          <a:bodyPr wrap="square" lIns="0" tIns="0" rIns="0" bIns="0" rtlCol="0" anchor="ctr"/>
          <a:lstStyle/>
          <a:p>
            <a:pPr indent="0" marL="0">
              <a:buNone/>
            </a:pPr>
            <a:r>
              <a:rPr lang="en-US" sz="1200" dirty="0">
                <a:solidFill>
                  <a:schemeClr val="tx1"/>
                </a:solidFill>
              </a:rPr>
              <a:t>Booking saved as Confirmed, cancellation sets Cancelled; PNR = "PNR" + 6 digits</a:t>
            </a:r>
            <a:endParaRPr lang="en-US" sz="1200" dirty="0"/>
          </a:p>
        </p:txBody>
      </p:sp>
      <p:sp>
        <p:nvSpPr>
          <p:cNvPr id="16" name="Code panel"/>
          <p:cNvSpPr/>
          <p:nvPr/>
        </p:nvSpPr>
        <p:spPr>
          <a:xfrm>
            <a:off x="4480560" y="1005840"/>
            <a:ext cx="4206240" cy="3474720"/>
          </a:xfrm>
          <a:prstGeom prst="roundRect">
            <a:avLst>
              <a:gd name="adj" fmla="val 2105"/>
            </a:avLst>
          </a:prstGeom>
          <a:solidFill>
            <a:schemeClr val="tx2"/>
          </a:solidFill>
          <a:ln w="12700">
            <a:solidFill>
              <a:schemeClr val="tx2"/>
            </a:solidFill>
            <a:prstDash val="solid"/>
          </a:ln>
        </p:spPr>
      </p:sp>
      <p:sp>
        <p:nvSpPr>
          <p:cNvPr id="17" name="Text 14"/>
          <p:cNvSpPr txBox="1"/>
          <p:nvPr/>
        </p:nvSpPr>
        <p:spPr>
          <a:xfrm>
            <a:off x="4663440" y="1078992"/>
            <a:ext cx="3840480" cy="256032"/>
          </a:xfrm>
          <a:prstGeom prst="rect">
            <a:avLst/>
          </a:prstGeom>
          <a:noFill/>
          <a:ln/>
        </p:spPr>
        <p:txBody>
          <a:bodyPr wrap="square" lIns="0" tIns="0" rIns="0" bIns="0" rtlCol="0" anchor="ctr"/>
          <a:lstStyle/>
          <a:p>
            <a:pPr indent="0" marL="0">
              <a:buNone/>
            </a:pPr>
            <a:r>
              <a:rPr lang="en-US" sz="1000" b="1" spc="200" kern="0" dirty="0">
                <a:solidFill>
                  <a:schemeClr val="accent6"/>
                </a:solidFill>
              </a:rPr>
              <a:t>Node.js + Express  |  MySQL</a:t>
            </a:r>
            <a:endParaRPr lang="en-US" sz="1000" dirty="0"/>
          </a:p>
        </p:txBody>
      </p:sp>
      <p:sp>
        <p:nvSpPr>
          <p:cNvPr id="18" name="Text 15"/>
          <p:cNvSpPr txBox="1"/>
          <p:nvPr/>
        </p:nvSpPr>
        <p:spPr>
          <a:xfrm>
            <a:off x="4663440" y="1371600"/>
            <a:ext cx="3931920" cy="3017520"/>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app.post('/search', (req, res) =&gt;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const { source, destination, date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 req.body;</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const sql = `SELECT * FROM trains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WHERE source =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AND destination =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AND journey_date =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db.query(sql, [source, destination, date],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(err, result) =&gt;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if (err) return res.status(500)</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.send("Database Error");</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res.json(result);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CREATE TABLE trains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train_id INT PRIMARY KEY AUTO_INCREMENT,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train_name VARCHAR(100), source VARCHAR(50),</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destination VARCHAR(50), journey_date DATE,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available_seats INT );</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28600"/>
            <a:ext cx="8229600" cy="59436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Sample Output Screens</a:t>
            </a:r>
            <a:endParaRPr lang="en-US" sz="2600" dirty="0"/>
          </a:p>
        </p:txBody>
      </p:sp>
      <p:sp>
        <p:nvSpPr>
          <p:cNvPr id="4" name="Frame Train search"/>
          <p:cNvSpPr/>
          <p:nvPr/>
        </p:nvSpPr>
        <p:spPr>
          <a:xfrm>
            <a:off x="457200" y="960120"/>
            <a:ext cx="2651760" cy="1572768"/>
          </a:xfrm>
          <a:prstGeom prst="roundRect">
            <a:avLst>
              <a:gd name="adj" fmla="val 4651"/>
            </a:avLst>
          </a:prstGeom>
          <a:solidFill>
            <a:schemeClr val="bg2"/>
          </a:solidFill>
          <a:ln w="12700">
            <a:solidFill>
              <a:schemeClr val="bg2"/>
            </a:solidFill>
            <a:prstDash val="solid"/>
          </a:ln>
        </p:spPr>
      </p:sp>
      <p:pic>
        <p:nvPicPr>
          <p:cNvPr id="5" name="Image 0" descr="Screenshot: Train search">    </p:cNvPr>
          <p:cNvPicPr>
            <a:picLocks noChangeAspect="1"/>
          </p:cNvPicPr>
          <p:nvPr/>
        </p:nvPicPr>
        <p:blipFill>
          <a:blip r:embed="rId1"/>
          <a:stretch>
            <a:fillRect/>
          </a:stretch>
        </p:blipFill>
        <p:spPr>
          <a:xfrm>
            <a:off x="891952" y="1033272"/>
            <a:ext cx="1782256" cy="1426464"/>
          </a:xfrm>
          <a:prstGeom prst="rect">
            <a:avLst/>
          </a:prstGeom>
        </p:spPr>
      </p:pic>
      <p:sp>
        <p:nvSpPr>
          <p:cNvPr id="6" name="Text 2"/>
          <p:cNvSpPr txBox="1"/>
          <p:nvPr/>
        </p:nvSpPr>
        <p:spPr>
          <a:xfrm>
            <a:off x="457200" y="2560320"/>
            <a:ext cx="2651760" cy="228600"/>
          </a:xfrm>
          <a:prstGeom prst="rect">
            <a:avLst/>
          </a:prstGeom>
          <a:noFill/>
          <a:ln/>
        </p:spPr>
        <p:txBody>
          <a:bodyPr wrap="square" lIns="0" tIns="0" rIns="0" bIns="0" rtlCol="0" anchor="ctr"/>
          <a:lstStyle/>
          <a:p>
            <a:pPr algn="ctr" indent="0" marL="0">
              <a:buNone/>
            </a:pPr>
            <a:r>
              <a:rPr lang="en-US" sz="1100" b="1" dirty="0">
                <a:solidFill>
                  <a:schemeClr val="tx2"/>
                </a:solidFill>
              </a:rPr>
              <a:t>Train search</a:t>
            </a:r>
            <a:endParaRPr lang="en-US" sz="1100" dirty="0"/>
          </a:p>
        </p:txBody>
      </p:sp>
      <p:sp>
        <p:nvSpPr>
          <p:cNvPr id="7" name="Frame Search results"/>
          <p:cNvSpPr/>
          <p:nvPr/>
        </p:nvSpPr>
        <p:spPr>
          <a:xfrm>
            <a:off x="3246120" y="960120"/>
            <a:ext cx="2651760" cy="1572768"/>
          </a:xfrm>
          <a:prstGeom prst="roundRect">
            <a:avLst>
              <a:gd name="adj" fmla="val 4651"/>
            </a:avLst>
          </a:prstGeom>
          <a:solidFill>
            <a:schemeClr val="bg2"/>
          </a:solidFill>
          <a:ln w="12700">
            <a:solidFill>
              <a:schemeClr val="bg2"/>
            </a:solidFill>
            <a:prstDash val="solid"/>
          </a:ln>
        </p:spPr>
      </p:sp>
      <p:pic>
        <p:nvPicPr>
          <p:cNvPr id="8" name="Image 1" descr="Screenshot: Search results">    </p:cNvPr>
          <p:cNvPicPr>
            <a:picLocks noChangeAspect="1"/>
          </p:cNvPicPr>
          <p:nvPr/>
        </p:nvPicPr>
        <p:blipFill>
          <a:blip r:embed="rId2"/>
          <a:stretch>
            <a:fillRect/>
          </a:stretch>
        </p:blipFill>
        <p:spPr>
          <a:xfrm>
            <a:off x="3680872" y="1033272"/>
            <a:ext cx="1782256" cy="1426464"/>
          </a:xfrm>
          <a:prstGeom prst="rect">
            <a:avLst/>
          </a:prstGeom>
        </p:spPr>
      </p:pic>
      <p:sp>
        <p:nvSpPr>
          <p:cNvPr id="9" name="Text 4"/>
          <p:cNvSpPr txBox="1"/>
          <p:nvPr/>
        </p:nvSpPr>
        <p:spPr>
          <a:xfrm>
            <a:off x="3246120" y="2560320"/>
            <a:ext cx="2651760" cy="228600"/>
          </a:xfrm>
          <a:prstGeom prst="rect">
            <a:avLst/>
          </a:prstGeom>
          <a:noFill/>
          <a:ln/>
        </p:spPr>
        <p:txBody>
          <a:bodyPr wrap="square" lIns="0" tIns="0" rIns="0" bIns="0" rtlCol="0" anchor="ctr"/>
          <a:lstStyle/>
          <a:p>
            <a:pPr algn="ctr" indent="0" marL="0">
              <a:buNone/>
            </a:pPr>
            <a:r>
              <a:rPr lang="en-US" sz="1100" b="1" dirty="0">
                <a:solidFill>
                  <a:schemeClr val="tx2"/>
                </a:solidFill>
              </a:rPr>
              <a:t>Search results</a:t>
            </a:r>
            <a:endParaRPr lang="en-US" sz="1100" dirty="0"/>
          </a:p>
        </p:txBody>
      </p:sp>
      <p:sp>
        <p:nvSpPr>
          <p:cNvPr id="10" name="Frame Seat selection"/>
          <p:cNvSpPr/>
          <p:nvPr/>
        </p:nvSpPr>
        <p:spPr>
          <a:xfrm>
            <a:off x="6035040" y="960120"/>
            <a:ext cx="2651760" cy="1572768"/>
          </a:xfrm>
          <a:prstGeom prst="roundRect">
            <a:avLst>
              <a:gd name="adj" fmla="val 4651"/>
            </a:avLst>
          </a:prstGeom>
          <a:solidFill>
            <a:schemeClr val="bg2"/>
          </a:solidFill>
          <a:ln w="12700">
            <a:solidFill>
              <a:schemeClr val="bg2"/>
            </a:solidFill>
            <a:prstDash val="solid"/>
          </a:ln>
        </p:spPr>
      </p:sp>
      <p:pic>
        <p:nvPicPr>
          <p:cNvPr id="11" name="Image 2" descr="Screenshot: Seat selection">    </p:cNvPr>
          <p:cNvPicPr>
            <a:picLocks noChangeAspect="1"/>
          </p:cNvPicPr>
          <p:nvPr/>
        </p:nvPicPr>
        <p:blipFill>
          <a:blip r:embed="rId3"/>
          <a:stretch>
            <a:fillRect/>
          </a:stretch>
        </p:blipFill>
        <p:spPr>
          <a:xfrm>
            <a:off x="6469792" y="1033272"/>
            <a:ext cx="1782256" cy="1426464"/>
          </a:xfrm>
          <a:prstGeom prst="rect">
            <a:avLst/>
          </a:prstGeom>
        </p:spPr>
      </p:pic>
      <p:sp>
        <p:nvSpPr>
          <p:cNvPr id="12" name="Text 6"/>
          <p:cNvSpPr txBox="1"/>
          <p:nvPr/>
        </p:nvSpPr>
        <p:spPr>
          <a:xfrm>
            <a:off x="6035040" y="2560320"/>
            <a:ext cx="2651760" cy="228600"/>
          </a:xfrm>
          <a:prstGeom prst="rect">
            <a:avLst/>
          </a:prstGeom>
          <a:noFill/>
          <a:ln/>
        </p:spPr>
        <p:txBody>
          <a:bodyPr wrap="square" lIns="0" tIns="0" rIns="0" bIns="0" rtlCol="0" anchor="ctr"/>
          <a:lstStyle/>
          <a:p>
            <a:pPr algn="ctr" indent="0" marL="0">
              <a:buNone/>
            </a:pPr>
            <a:r>
              <a:rPr lang="en-US" sz="1100" b="1" dirty="0">
                <a:solidFill>
                  <a:schemeClr val="tx2"/>
                </a:solidFill>
              </a:rPr>
              <a:t>Seat selection</a:t>
            </a:r>
            <a:endParaRPr lang="en-US" sz="1100" dirty="0"/>
          </a:p>
        </p:txBody>
      </p:sp>
      <p:sp>
        <p:nvSpPr>
          <p:cNvPr id="13" name="Frame Passenger details"/>
          <p:cNvSpPr/>
          <p:nvPr/>
        </p:nvSpPr>
        <p:spPr>
          <a:xfrm>
            <a:off x="457200" y="2834640"/>
            <a:ext cx="2651760" cy="1572768"/>
          </a:xfrm>
          <a:prstGeom prst="roundRect">
            <a:avLst>
              <a:gd name="adj" fmla="val 4651"/>
            </a:avLst>
          </a:prstGeom>
          <a:solidFill>
            <a:schemeClr val="bg2"/>
          </a:solidFill>
          <a:ln w="12700">
            <a:solidFill>
              <a:schemeClr val="bg2"/>
            </a:solidFill>
            <a:prstDash val="solid"/>
          </a:ln>
        </p:spPr>
      </p:sp>
      <p:pic>
        <p:nvPicPr>
          <p:cNvPr id="14" name="Image 3" descr="Screenshot: Passenger details">    </p:cNvPr>
          <p:cNvPicPr>
            <a:picLocks noChangeAspect="1"/>
          </p:cNvPicPr>
          <p:nvPr/>
        </p:nvPicPr>
        <p:blipFill>
          <a:blip r:embed="rId4"/>
          <a:stretch>
            <a:fillRect/>
          </a:stretch>
        </p:blipFill>
        <p:spPr>
          <a:xfrm>
            <a:off x="891952" y="2907792"/>
            <a:ext cx="1782256" cy="1426464"/>
          </a:xfrm>
          <a:prstGeom prst="rect">
            <a:avLst/>
          </a:prstGeom>
        </p:spPr>
      </p:pic>
      <p:sp>
        <p:nvSpPr>
          <p:cNvPr id="15" name="Text 8"/>
          <p:cNvSpPr txBox="1"/>
          <p:nvPr/>
        </p:nvSpPr>
        <p:spPr>
          <a:xfrm>
            <a:off x="457200" y="4434840"/>
            <a:ext cx="2651760" cy="228600"/>
          </a:xfrm>
          <a:prstGeom prst="rect">
            <a:avLst/>
          </a:prstGeom>
          <a:noFill/>
          <a:ln/>
        </p:spPr>
        <p:txBody>
          <a:bodyPr wrap="square" lIns="0" tIns="0" rIns="0" bIns="0" rtlCol="0" anchor="ctr"/>
          <a:lstStyle/>
          <a:p>
            <a:pPr algn="ctr" indent="0" marL="0">
              <a:buNone/>
            </a:pPr>
            <a:r>
              <a:rPr lang="en-US" sz="1100" b="1" dirty="0">
                <a:solidFill>
                  <a:schemeClr val="tx2"/>
                </a:solidFill>
              </a:rPr>
              <a:t>Passenger details</a:t>
            </a:r>
            <a:endParaRPr lang="en-US" sz="1100" dirty="0"/>
          </a:p>
        </p:txBody>
      </p:sp>
      <p:sp>
        <p:nvSpPr>
          <p:cNvPr id="16" name="Frame Payment success and PNR"/>
          <p:cNvSpPr/>
          <p:nvPr/>
        </p:nvSpPr>
        <p:spPr>
          <a:xfrm>
            <a:off x="3246120" y="2834640"/>
            <a:ext cx="2651760" cy="1572768"/>
          </a:xfrm>
          <a:prstGeom prst="roundRect">
            <a:avLst>
              <a:gd name="adj" fmla="val 4651"/>
            </a:avLst>
          </a:prstGeom>
          <a:solidFill>
            <a:schemeClr val="bg2"/>
          </a:solidFill>
          <a:ln w="12700">
            <a:solidFill>
              <a:schemeClr val="bg2"/>
            </a:solidFill>
            <a:prstDash val="solid"/>
          </a:ln>
        </p:spPr>
      </p:sp>
      <p:pic>
        <p:nvPicPr>
          <p:cNvPr id="17" name="Image 4" descr="Screenshot: Payment success and PNR">    </p:cNvPr>
          <p:cNvPicPr>
            <a:picLocks noChangeAspect="1"/>
          </p:cNvPicPr>
          <p:nvPr/>
        </p:nvPicPr>
        <p:blipFill>
          <a:blip r:embed="rId5"/>
          <a:stretch>
            <a:fillRect/>
          </a:stretch>
        </p:blipFill>
        <p:spPr>
          <a:xfrm>
            <a:off x="3501328" y="2907792"/>
            <a:ext cx="2141343" cy="1426464"/>
          </a:xfrm>
          <a:prstGeom prst="rect">
            <a:avLst/>
          </a:prstGeom>
        </p:spPr>
      </p:pic>
      <p:sp>
        <p:nvSpPr>
          <p:cNvPr id="18" name="Text 10"/>
          <p:cNvSpPr txBox="1"/>
          <p:nvPr/>
        </p:nvSpPr>
        <p:spPr>
          <a:xfrm>
            <a:off x="3246120" y="4434840"/>
            <a:ext cx="2651760" cy="228600"/>
          </a:xfrm>
          <a:prstGeom prst="rect">
            <a:avLst/>
          </a:prstGeom>
          <a:noFill/>
          <a:ln/>
        </p:spPr>
        <p:txBody>
          <a:bodyPr wrap="square" lIns="0" tIns="0" rIns="0" bIns="0" rtlCol="0" anchor="ctr"/>
          <a:lstStyle/>
          <a:p>
            <a:pPr algn="ctr" indent="0" marL="0">
              <a:buNone/>
            </a:pPr>
            <a:r>
              <a:rPr lang="en-US" sz="1100" b="1" dirty="0">
                <a:solidFill>
                  <a:schemeClr val="tx2"/>
                </a:solidFill>
              </a:rPr>
              <a:t>Payment success and PNR</a:t>
            </a:r>
            <a:endParaRPr lang="en-US" sz="1100" dirty="0"/>
          </a:p>
        </p:txBody>
      </p:sp>
      <p:sp>
        <p:nvSpPr>
          <p:cNvPr id="19" name="Frame Digital e-ticket"/>
          <p:cNvSpPr/>
          <p:nvPr/>
        </p:nvSpPr>
        <p:spPr>
          <a:xfrm>
            <a:off x="6035040" y="2834640"/>
            <a:ext cx="2651760" cy="1572768"/>
          </a:xfrm>
          <a:prstGeom prst="roundRect">
            <a:avLst>
              <a:gd name="adj" fmla="val 4651"/>
            </a:avLst>
          </a:prstGeom>
          <a:solidFill>
            <a:schemeClr val="bg2"/>
          </a:solidFill>
          <a:ln w="12700">
            <a:solidFill>
              <a:schemeClr val="bg2"/>
            </a:solidFill>
            <a:prstDash val="solid"/>
          </a:ln>
        </p:spPr>
      </p:sp>
      <p:pic>
        <p:nvPicPr>
          <p:cNvPr id="20" name="Image 5" descr="Screenshot: Digital e-ticket">    </p:cNvPr>
          <p:cNvPicPr>
            <a:picLocks noChangeAspect="1"/>
          </p:cNvPicPr>
          <p:nvPr/>
        </p:nvPicPr>
        <p:blipFill>
          <a:blip r:embed="rId6"/>
          <a:stretch>
            <a:fillRect/>
          </a:stretch>
        </p:blipFill>
        <p:spPr>
          <a:xfrm>
            <a:off x="6410493" y="2907792"/>
            <a:ext cx="1900854" cy="1426464"/>
          </a:xfrm>
          <a:prstGeom prst="rect">
            <a:avLst/>
          </a:prstGeom>
        </p:spPr>
      </p:pic>
      <p:sp>
        <p:nvSpPr>
          <p:cNvPr id="21" name="Text 12"/>
          <p:cNvSpPr txBox="1"/>
          <p:nvPr/>
        </p:nvSpPr>
        <p:spPr>
          <a:xfrm>
            <a:off x="6035040" y="4434840"/>
            <a:ext cx="2651760" cy="228600"/>
          </a:xfrm>
          <a:prstGeom prst="rect">
            <a:avLst/>
          </a:prstGeom>
          <a:noFill/>
          <a:ln/>
        </p:spPr>
        <p:txBody>
          <a:bodyPr wrap="square" lIns="0" tIns="0" rIns="0" bIns="0" rtlCol="0" anchor="ctr"/>
          <a:lstStyle/>
          <a:p>
            <a:pPr algn="ctr" indent="0" marL="0">
              <a:buNone/>
            </a:pPr>
            <a:r>
              <a:rPr lang="en-US" sz="1100" b="1" dirty="0">
                <a:solidFill>
                  <a:schemeClr val="tx2"/>
                </a:solidFill>
              </a:rPr>
              <a:t>Digital e-ticket</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28600"/>
            <a:ext cx="8229600" cy="59436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Results, Testing and Learning</a:t>
            </a:r>
            <a:endParaRPr lang="en-US" sz="2600" dirty="0"/>
          </a:p>
        </p:txBody>
      </p:sp>
      <p:sp>
        <p:nvSpPr>
          <p:cNvPr id="4" name="Results card"/>
          <p:cNvSpPr/>
          <p:nvPr/>
        </p:nvSpPr>
        <p:spPr>
          <a:xfrm>
            <a:off x="457200" y="1005840"/>
            <a:ext cx="4023360" cy="2926080"/>
          </a:xfrm>
          <a:prstGeom prst="roundRect">
            <a:avLst>
              <a:gd name="adj" fmla="val 2500"/>
            </a:avLst>
          </a:prstGeom>
          <a:solidFill>
            <a:schemeClr val="bg2"/>
          </a:solidFill>
          <a:ln w="12700">
            <a:solidFill>
              <a:schemeClr val="bg2"/>
            </a:solidFill>
            <a:prstDash val="solid"/>
          </a:ln>
        </p:spPr>
      </p:sp>
      <p:sp>
        <p:nvSpPr>
          <p:cNvPr id="5" name="Text 2"/>
          <p:cNvSpPr txBox="1"/>
          <p:nvPr/>
        </p:nvSpPr>
        <p:spPr>
          <a:xfrm>
            <a:off x="685800" y="1097280"/>
            <a:ext cx="356616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What was achieved</a:t>
            </a:r>
            <a:endParaRPr lang="en-US" sz="1800" dirty="0"/>
          </a:p>
        </p:txBody>
      </p:sp>
      <p:sp>
        <p:nvSpPr>
          <p:cNvPr id="6" name="Text 3"/>
          <p:cNvSpPr txBox="1"/>
          <p:nvPr/>
        </p:nvSpPr>
        <p:spPr>
          <a:xfrm>
            <a:off x="685800" y="1536192"/>
            <a:ext cx="3611880" cy="22860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Complete flow built: register, login, search, seats, payment, PNR, e-ticket, history</a:t>
            </a:r>
            <a:endParaRPr lang="en-US" sz="1400" dirty="0"/>
          </a:p>
          <a:p>
            <a:pPr marL="342900" indent="-342900">
              <a:spcAft>
                <a:spcPts val="1000"/>
              </a:spcAft>
              <a:buSzPct val="100000"/>
              <a:buChar char="•"/>
            </a:pPr>
            <a:r>
              <a:rPr lang="en-US" sz="1400" dirty="0">
                <a:solidFill>
                  <a:schemeClr val="tx1"/>
                </a:solidFill>
              </a:rPr>
              <a:t>Tested: login, search, seat selection, booking, payment, ticket, cancellation</a:t>
            </a:r>
            <a:endParaRPr lang="en-US" sz="1400" dirty="0"/>
          </a:p>
          <a:p>
            <a:pPr marL="342900" indent="-342900">
              <a:spcAft>
                <a:spcPts val="1000"/>
              </a:spcAft>
              <a:buSzPct val="100000"/>
              <a:buChar char="•"/>
            </a:pPr>
            <a:r>
              <a:rPr lang="en-US" sz="1400" dirty="0">
                <a:solidFill>
                  <a:schemeClr val="tx1"/>
                </a:solidFill>
              </a:rPr>
              <a:t>Result is qualitative: less manual effort and fewer booking errors; no benchmark figures recorded</a:t>
            </a:r>
            <a:endParaRPr lang="en-US" sz="1400" dirty="0"/>
          </a:p>
        </p:txBody>
      </p:sp>
      <p:sp>
        <p:nvSpPr>
          <p:cNvPr id="7" name="Limitations card"/>
          <p:cNvSpPr/>
          <p:nvPr/>
        </p:nvSpPr>
        <p:spPr>
          <a:xfrm>
            <a:off x="4663440" y="1005840"/>
            <a:ext cx="4023360" cy="2926080"/>
          </a:xfrm>
          <a:prstGeom prst="roundRect">
            <a:avLst>
              <a:gd name="adj" fmla="val 2500"/>
            </a:avLst>
          </a:prstGeom>
          <a:solidFill>
            <a:schemeClr val="tx2"/>
          </a:solidFill>
          <a:ln w="12700">
            <a:solidFill>
              <a:schemeClr val="tx2"/>
            </a:solidFill>
            <a:prstDash val="solid"/>
          </a:ln>
        </p:spPr>
      </p:sp>
      <p:sp>
        <p:nvSpPr>
          <p:cNvPr id="8" name="Text 5"/>
          <p:cNvSpPr txBox="1"/>
          <p:nvPr/>
        </p:nvSpPr>
        <p:spPr>
          <a:xfrm>
            <a:off x="4892040" y="1097280"/>
            <a:ext cx="3566160" cy="365760"/>
          </a:xfrm>
          <a:prstGeom prst="rect">
            <a:avLst/>
          </a:prstGeom>
          <a:noFill/>
          <a:ln/>
        </p:spPr>
        <p:txBody>
          <a:bodyPr wrap="square" lIns="0" tIns="0" rIns="0" bIns="0" rtlCol="0" anchor="ctr"/>
          <a:lstStyle/>
          <a:p>
            <a:pPr indent="0" marL="0">
              <a:buNone/>
            </a:pPr>
            <a:r>
              <a:rPr lang="en-US" sz="1800" b="1" dirty="0">
                <a:solidFill>
                  <a:schemeClr val="accent6"/>
                </a:solidFill>
                <a:latin typeface="Cambria" pitchFamily="34" charset="0"/>
                <a:ea typeface="Cambria" pitchFamily="34" charset="-122"/>
                <a:cs typeface="Cambria" pitchFamily="34" charset="-120"/>
              </a:rPr>
              <a:t>Limitations and fixes</a:t>
            </a:r>
            <a:endParaRPr lang="en-US" sz="1800" dirty="0"/>
          </a:p>
        </p:txBody>
      </p:sp>
      <p:sp>
        <p:nvSpPr>
          <p:cNvPr id="9" name="Text 6"/>
          <p:cNvSpPr txBox="1"/>
          <p:nvPr/>
        </p:nvSpPr>
        <p:spPr>
          <a:xfrm>
            <a:off x="4892040" y="1536192"/>
            <a:ext cx="3611880" cy="18288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1"/>
                </a:solidFill>
              </a:rPr>
              <a:t>Plain-text password check: hash with bcrypt</a:t>
            </a:r>
            <a:endParaRPr lang="en-US" sz="1400" dirty="0"/>
          </a:p>
          <a:p>
            <a:pPr marL="342900" indent="-342900">
              <a:spcAft>
                <a:spcPts val="1000"/>
              </a:spcAft>
              <a:buSzPct val="100000"/>
              <a:buChar char="•"/>
            </a:pPr>
            <a:r>
              <a:rPr lang="en-US" sz="1400" dirty="0">
                <a:solidFill>
                  <a:schemeClr val="bg1"/>
                </a:solidFill>
              </a:rPr>
              <a:t>Payment is simulated: use a real gateway</a:t>
            </a:r>
            <a:endParaRPr lang="en-US" sz="1400" dirty="0"/>
          </a:p>
          <a:p>
            <a:pPr marL="342900" indent="-342900">
              <a:spcAft>
                <a:spcPts val="1000"/>
              </a:spcAft>
              <a:buSzPct val="100000"/>
              <a:buChar char="•"/>
            </a:pPr>
            <a:r>
              <a:rPr lang="en-US" sz="1400" dirty="0">
                <a:solidFill>
                  <a:schemeClr val="bg1"/>
                </a:solidFill>
              </a:rPr>
              <a:t>PNR from Math.random: add uniqueness check</a:t>
            </a:r>
            <a:endParaRPr lang="en-US" sz="1400" dirty="0"/>
          </a:p>
          <a:p>
            <a:pPr marL="342900" indent="-342900">
              <a:spcAft>
                <a:spcPts val="1000"/>
              </a:spcAft>
              <a:buSzPct val="100000"/>
              <a:buChar char="•"/>
            </a:pPr>
            <a:r>
              <a:rPr lang="en-US" sz="1400" dirty="0">
                <a:solidFill>
                  <a:schemeClr val="bg1"/>
                </a:solidFill>
              </a:rPr>
              <a:t>No seat locking: use DB transactions</a:t>
            </a:r>
            <a:endParaRPr lang="en-US" sz="1400" dirty="0"/>
          </a:p>
        </p:txBody>
      </p:sp>
      <p:sp>
        <p:nvSpPr>
          <p:cNvPr id="10" name="Text 7"/>
          <p:cNvSpPr txBox="1"/>
          <p:nvPr/>
        </p:nvSpPr>
        <p:spPr>
          <a:xfrm>
            <a:off x="4892040" y="3520440"/>
            <a:ext cx="3611880" cy="274320"/>
          </a:xfrm>
          <a:prstGeom prst="rect">
            <a:avLst/>
          </a:prstGeom>
          <a:noFill/>
          <a:ln/>
        </p:spPr>
        <p:txBody>
          <a:bodyPr wrap="square" lIns="0" tIns="0" rIns="0" bIns="0" rtlCol="0" anchor="ctr"/>
          <a:lstStyle/>
          <a:p>
            <a:pPr indent="0" marL="0">
              <a:buNone/>
            </a:pPr>
            <a:r>
              <a:rPr lang="en-US" sz="1000" i="1" dirty="0">
                <a:solidFill>
                  <a:schemeClr val="accent6"/>
                </a:solidFill>
              </a:rPr>
              <a:t>From my own review of the code in the report</a:t>
            </a:r>
            <a:endParaRPr lang="en-US" sz="1000" dirty="0"/>
          </a:p>
        </p:txBody>
      </p:sp>
      <p:sp>
        <p:nvSpPr>
          <p:cNvPr id="11" name="Banner"/>
          <p:cNvSpPr/>
          <p:nvPr/>
        </p:nvSpPr>
        <p:spPr>
          <a:xfrm>
            <a:off x="457200" y="4069080"/>
            <a:ext cx="8229600" cy="457200"/>
          </a:xfrm>
          <a:prstGeom prst="roundRect">
            <a:avLst>
              <a:gd name="adj" fmla="val 16000"/>
            </a:avLst>
          </a:prstGeom>
          <a:solidFill>
            <a:schemeClr val="accent1"/>
          </a:solidFill>
          <a:ln w="12700">
            <a:solidFill>
              <a:schemeClr val="accent1"/>
            </a:solidFill>
            <a:prstDash val="solid"/>
          </a:ln>
        </p:spPr>
      </p:sp>
      <p:sp>
        <p:nvSpPr>
          <p:cNvPr id="12" name="Banner text"/>
          <p:cNvSpPr txBox="1"/>
          <p:nvPr/>
        </p:nvSpPr>
        <p:spPr>
          <a:xfrm>
            <a:off x="640080" y="4069080"/>
            <a:ext cx="7863840" cy="457200"/>
          </a:xfrm>
          <a:prstGeom prst="rect">
            <a:avLst/>
          </a:prstGeom>
          <a:noFill/>
          <a:ln/>
        </p:spPr>
        <p:txBody>
          <a:bodyPr wrap="square" lIns="0" tIns="0" rIns="0" bIns="0" rtlCol="0" anchor="ctr"/>
          <a:lstStyle/>
          <a:p>
            <a:pPr indent="0" marL="0">
              <a:buNone/>
            </a:pPr>
            <a:r>
              <a:rPr lang="en-US" sz="1300" b="1" dirty="0">
                <a:solidFill>
                  <a:schemeClr val="bg1"/>
                </a:solidFill>
              </a:rPr>
              <a:t>Skills gained: </a:t>
            </a:r>
            <a:pPr indent="0" marL="0">
              <a:buNone/>
            </a:pPr>
            <a:r>
              <a:rPr lang="en-US" sz="1300" dirty="0">
                <a:solidFill>
                  <a:schemeClr val="bg1"/>
                </a:solidFill>
              </a:rPr>
              <a:t>HTML, CSS, JavaScript, Node.js, Express, MySQL, authentication, testing and debugging.</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28600"/>
            <a:ext cx="8229600" cy="59436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Conclusion and Future Scope</a:t>
            </a:r>
            <a:endParaRPr lang="en-US" sz="2600" dirty="0"/>
          </a:p>
        </p:txBody>
      </p:sp>
      <p:sp>
        <p:nvSpPr>
          <p:cNvPr id="4" name="Conclusion card"/>
          <p:cNvSpPr/>
          <p:nvPr/>
        </p:nvSpPr>
        <p:spPr>
          <a:xfrm>
            <a:off x="457200" y="1005840"/>
            <a:ext cx="4023360" cy="2331720"/>
          </a:xfrm>
          <a:prstGeom prst="roundRect">
            <a:avLst>
              <a:gd name="adj" fmla="val 3137"/>
            </a:avLst>
          </a:prstGeom>
          <a:solidFill>
            <a:schemeClr val="bg2"/>
          </a:solidFill>
          <a:ln w="12700">
            <a:solidFill>
              <a:schemeClr val="bg2"/>
            </a:solidFill>
            <a:prstDash val="solid"/>
          </a:ln>
        </p:spPr>
      </p:sp>
      <p:sp>
        <p:nvSpPr>
          <p:cNvPr id="5" name="Text 2"/>
          <p:cNvSpPr txBox="1"/>
          <p:nvPr/>
        </p:nvSpPr>
        <p:spPr>
          <a:xfrm>
            <a:off x="685800" y="1097280"/>
            <a:ext cx="3566160" cy="36576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Conclusion</a:t>
            </a:r>
            <a:endParaRPr lang="en-US" sz="1800" dirty="0"/>
          </a:p>
        </p:txBody>
      </p:sp>
      <p:sp>
        <p:nvSpPr>
          <p:cNvPr id="6" name="Text 3"/>
          <p:cNvSpPr txBox="1"/>
          <p:nvPr/>
        </p:nvSpPr>
        <p:spPr>
          <a:xfrm>
            <a:off x="685800" y="1508760"/>
            <a:ext cx="361188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Booking, payment, cancellation and e-ticket in one platform</a:t>
            </a:r>
            <a:endParaRPr lang="en-US" sz="1400" dirty="0"/>
          </a:p>
          <a:p>
            <a:pPr marL="342900" indent="-342900">
              <a:spcAft>
                <a:spcPts val="800"/>
              </a:spcAft>
              <a:buSzPct val="100000"/>
              <a:buChar char="•"/>
            </a:pPr>
            <a:r>
              <a:rPr lang="en-US" sz="1400" dirty="0">
                <a:solidFill>
                  <a:schemeClr val="tx1"/>
                </a:solidFill>
              </a:rPr>
              <a:t>Admin module and central MySQL database</a:t>
            </a:r>
            <a:endParaRPr lang="en-US" sz="1400" dirty="0"/>
          </a:p>
          <a:p>
            <a:pPr marL="342900" indent="-342900">
              <a:spcAft>
                <a:spcPts val="800"/>
              </a:spcAft>
              <a:buSzPct val="100000"/>
              <a:buChar char="•"/>
            </a:pPr>
            <a:r>
              <a:rPr lang="en-US" sz="1400" dirty="0">
                <a:solidFill>
                  <a:schemeClr val="tx1"/>
                </a:solidFill>
              </a:rPr>
              <a:t>Hands-on experience across the full web stack</a:t>
            </a:r>
            <a:endParaRPr lang="en-US" sz="1400" dirty="0"/>
          </a:p>
        </p:txBody>
      </p:sp>
      <p:sp>
        <p:nvSpPr>
          <p:cNvPr id="7" name="Future card"/>
          <p:cNvSpPr/>
          <p:nvPr/>
        </p:nvSpPr>
        <p:spPr>
          <a:xfrm>
            <a:off x="4663440" y="1005840"/>
            <a:ext cx="4023360" cy="2331720"/>
          </a:xfrm>
          <a:prstGeom prst="roundRect">
            <a:avLst>
              <a:gd name="adj" fmla="val 3137"/>
            </a:avLst>
          </a:prstGeom>
          <a:solidFill>
            <a:schemeClr val="tx2"/>
          </a:solidFill>
          <a:ln w="12700">
            <a:solidFill>
              <a:schemeClr val="tx2"/>
            </a:solidFill>
            <a:prstDash val="solid"/>
          </a:ln>
        </p:spPr>
      </p:sp>
      <p:sp>
        <p:nvSpPr>
          <p:cNvPr id="8" name="Text 5"/>
          <p:cNvSpPr txBox="1"/>
          <p:nvPr/>
        </p:nvSpPr>
        <p:spPr>
          <a:xfrm>
            <a:off x="4892040" y="1097280"/>
            <a:ext cx="3566160" cy="365760"/>
          </a:xfrm>
          <a:prstGeom prst="rect">
            <a:avLst/>
          </a:prstGeom>
          <a:noFill/>
          <a:ln/>
        </p:spPr>
        <p:txBody>
          <a:bodyPr wrap="square" lIns="0" tIns="0" rIns="0" bIns="0" rtlCol="0" anchor="ctr"/>
          <a:lstStyle/>
          <a:p>
            <a:pPr indent="0" marL="0">
              <a:buNone/>
            </a:pPr>
            <a:r>
              <a:rPr lang="en-US" sz="1800" b="1" dirty="0">
                <a:solidFill>
                  <a:schemeClr val="accent6"/>
                </a:solidFill>
                <a:latin typeface="Cambria" pitchFamily="34" charset="0"/>
                <a:ea typeface="Cambria" pitchFamily="34" charset="-122"/>
                <a:cs typeface="Cambria" pitchFamily="34" charset="-120"/>
              </a:rPr>
              <a:t>Future scope</a:t>
            </a:r>
            <a:endParaRPr lang="en-US" sz="1800" dirty="0"/>
          </a:p>
        </p:txBody>
      </p:sp>
      <p:sp>
        <p:nvSpPr>
          <p:cNvPr id="9" name="Text 6"/>
          <p:cNvSpPr txBox="1"/>
          <p:nvPr/>
        </p:nvSpPr>
        <p:spPr>
          <a:xfrm>
            <a:off x="4892040" y="1508760"/>
            <a:ext cx="361188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Live train schedules and status</a:t>
            </a:r>
            <a:endParaRPr lang="en-US" sz="1400" dirty="0"/>
          </a:p>
          <a:p>
            <a:pPr marL="342900" indent="-342900">
              <a:spcAft>
                <a:spcPts val="500"/>
              </a:spcAft>
              <a:buSzPct val="100000"/>
              <a:buChar char="•"/>
            </a:pPr>
            <a:r>
              <a:rPr lang="en-US" sz="1400" dirty="0">
                <a:solidFill>
                  <a:schemeClr val="bg1"/>
                </a:solidFill>
              </a:rPr>
              <a:t>Real payment gateway, OTP login</a:t>
            </a:r>
            <a:endParaRPr lang="en-US" sz="1400" dirty="0"/>
          </a:p>
          <a:p>
            <a:pPr marL="342900" indent="-342900">
              <a:spcAft>
                <a:spcPts val="500"/>
              </a:spcAft>
              <a:buSzPct val="100000"/>
              <a:buChar char="•"/>
            </a:pPr>
            <a:r>
              <a:rPr lang="en-US" sz="1400" dirty="0">
                <a:solidFill>
                  <a:schemeClr val="bg1"/>
                </a:solidFill>
              </a:rPr>
              <a:t>Email and SMS notifications</a:t>
            </a:r>
            <a:endParaRPr lang="en-US" sz="1400" dirty="0"/>
          </a:p>
          <a:p>
            <a:pPr marL="342900" indent="-342900">
              <a:spcAft>
                <a:spcPts val="500"/>
              </a:spcAft>
              <a:buSzPct val="100000"/>
              <a:buChar char="•"/>
            </a:pPr>
            <a:r>
              <a:rPr lang="en-US" sz="1400" dirty="0">
                <a:solidFill>
                  <a:schemeClr val="bg1"/>
                </a:solidFill>
              </a:rPr>
              <a:t>Mobile app, multilingual support</a:t>
            </a:r>
            <a:endParaRPr lang="en-US" sz="1400" dirty="0"/>
          </a:p>
          <a:p>
            <a:pPr marL="342900" indent="-342900">
              <a:spcAft>
                <a:spcPts val="500"/>
              </a:spcAft>
              <a:buSzPct val="100000"/>
              <a:buChar char="•"/>
            </a:pPr>
            <a:r>
              <a:rPr lang="en-US" sz="1400" dirty="0">
                <a:solidFill>
                  <a:schemeClr val="bg1"/>
                </a:solidFill>
              </a:rPr>
              <a:t>Cloud deployment, admin analytics</a:t>
            </a:r>
            <a:endParaRPr lang="en-US" sz="1400" dirty="0"/>
          </a:p>
        </p:txBody>
      </p:sp>
      <p:sp>
        <p:nvSpPr>
          <p:cNvPr id="10" name="Banner"/>
          <p:cNvSpPr/>
          <p:nvPr/>
        </p:nvSpPr>
        <p:spPr>
          <a:xfrm>
            <a:off x="457200" y="3474720"/>
            <a:ext cx="8229600" cy="457200"/>
          </a:xfrm>
          <a:prstGeom prst="roundRect">
            <a:avLst>
              <a:gd name="adj" fmla="val 16000"/>
            </a:avLst>
          </a:prstGeom>
          <a:solidFill>
            <a:schemeClr val="accent1"/>
          </a:solidFill>
          <a:ln w="12700">
            <a:solidFill>
              <a:schemeClr val="accent1"/>
            </a:solidFill>
            <a:prstDash val="solid"/>
          </a:ln>
        </p:spPr>
      </p:sp>
      <p:sp>
        <p:nvSpPr>
          <p:cNvPr id="11" name="Banner text"/>
          <p:cNvSpPr txBox="1"/>
          <p:nvPr/>
        </p:nvSpPr>
        <p:spPr>
          <a:xfrm>
            <a:off x="640080" y="3474720"/>
            <a:ext cx="7863840" cy="457200"/>
          </a:xfrm>
          <a:prstGeom prst="rect">
            <a:avLst/>
          </a:prstGeom>
          <a:noFill/>
          <a:ln/>
        </p:spPr>
        <p:txBody>
          <a:bodyPr wrap="square" lIns="0" tIns="0" rIns="0" bIns="0" rtlCol="0" anchor="ctr"/>
          <a:lstStyle/>
          <a:p>
            <a:pPr indent="0" marL="0">
              <a:buNone/>
            </a:pPr>
            <a:r>
              <a:rPr lang="en-US" sz="1300" b="1" dirty="0">
                <a:solidFill>
                  <a:schemeClr val="bg1"/>
                </a:solidFill>
              </a:rPr>
              <a:t>Thank you. Questions welcome.</a:t>
            </a:r>
            <a:endParaRPr lang="en-US" sz="1300" dirty="0"/>
          </a:p>
        </p:txBody>
      </p:sp>
      <p:sp>
        <p:nvSpPr>
          <p:cNvPr id="12" name="Text 9"/>
          <p:cNvSpPr txBox="1"/>
          <p:nvPr/>
        </p:nvSpPr>
        <p:spPr>
          <a:xfrm>
            <a:off x="457200" y="4023360"/>
            <a:ext cx="8229600" cy="548640"/>
          </a:xfrm>
          <a:prstGeom prst="rect">
            <a:avLst/>
          </a:prstGeom>
          <a:noFill/>
          <a:ln/>
        </p:spPr>
        <p:txBody>
          <a:bodyPr wrap="square" lIns="0" tIns="0" rIns="0" bIns="0" rtlCol="0" anchor="t"/>
          <a:lstStyle/>
          <a:p>
            <a:pPr indent="0" marL="0">
              <a:buNone/>
            </a:pPr>
            <a:r>
              <a:rPr lang="en-US" sz="1000" b="1" dirty="0">
                <a:solidFill>
                  <a:schemeClr val="accent5"/>
                </a:solidFill>
              </a:rPr>
              <a:t>References: </a:t>
            </a:r>
            <a:pPr indent="0" marL="0">
              <a:buNone/>
            </a:pPr>
            <a:r>
              <a:rPr lang="en-US" sz="1000" dirty="0">
                <a:solidFill>
                  <a:schemeClr val="accent5"/>
                </a:solidFill>
              </a:rPr>
              <a:t>MDN Web Docs; Node.js, Express.js and MySQL official documentation; J. Duckett, HTML and CSS: Design and Build Websites (Wiley); E. Brown, Web Development with Node and Express (O'Reilly).</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Railway Review">
  <a:themeElements>
    <a:clrScheme name="Railway Review">
      <a:dk1>
        <a:srgbClr val="1B2A33"/>
      </a:dk1>
      <a:lt1>
        <a:srgbClr val="FFFFFF"/>
      </a:lt1>
      <a:dk2>
        <a:srgbClr val="0B3C49"/>
      </a:dk2>
      <a:lt2>
        <a:srgbClr val="EAF2F4"/>
      </a:lt2>
      <a:accent1>
        <a:srgbClr val="0E7C86"/>
      </a:accent1>
      <a:accent2>
        <a:srgbClr val="2E9E5B"/>
      </a:accent2>
      <a:accent3>
        <a:srgbClr val="E0A526"/>
      </a:accent3>
      <a:accent4>
        <a:srgbClr val="D64545"/>
      </a:accent4>
      <a:accent5>
        <a:srgbClr val="5B6B76"/>
      </a:accent5>
      <a:accent6>
        <a:srgbClr val="7FB7BE"/>
      </a:accent6>
      <a:hlink>
        <a:srgbClr val="0E7C86"/>
      </a:hlink>
      <a:folHlink>
        <a:srgbClr val="5B6B76"/>
      </a:folHlink>
    </a:clrScheme>
    <a:fontScheme name="Railway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Web-Based Railway Ticket Reservation System - Internship Review</dc:title>
  <dc:subject>PptxGenJS Presentation</dc:subject>
  <dc:creator>R. MADHUMITHA</dc:creator>
  <cp:lastModifiedBy>R. MADHUMITHA</cp:lastModifiedBy>
  <cp:revision>1</cp:revision>
  <dcterms:created xsi:type="dcterms:W3CDTF">2026-10-22T04:51:32Z</dcterms:created>
  <dcterms:modified xsi:type="dcterms:W3CDTF">2026-10-22T04:51:32Z</dcterms:modified>
</cp:coreProperties>
</file>